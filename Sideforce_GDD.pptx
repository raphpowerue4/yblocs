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503920" y="-914400"/>
            <a:ext cx="91440" cy="9144000"/>
          </a:xfrm>
          <a:prstGeom prst="rect">
            <a:avLst/>
          </a:prstGeom>
          <a:solidFill>
            <a:srgbClr val="FF4438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052560" y="-914400"/>
            <a:ext cx="45720" cy="9144000"/>
          </a:xfrm>
          <a:prstGeom prst="rect">
            <a:avLst/>
          </a:prstGeom>
          <a:solidFill>
            <a:srgbClr val="29E0D6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692640" y="-914400"/>
            <a:ext cx="27432" cy="9144000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60120"/>
            <a:ext cx="150876" cy="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150876" cy="-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960120"/>
            <a:ext cx="150876" cy="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261872"/>
            <a:ext cx="150876" cy="-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960120"/>
            <a:ext cx="150876" cy="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261872"/>
            <a:ext cx="150876" cy="-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960120"/>
            <a:ext cx="150876" cy="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3584" y="1261872"/>
            <a:ext cx="150876" cy="-150876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 DESIGN  DOCUMENT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SIDEFORCE</a:t>
            </a:r>
            <a:endParaRPr lang="en-US" sz="118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/ Platformer compétitif — maîtrisez l'inertie, gardez la vitesse, battez le chrono.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5248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/ Platformer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48920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11880" y="5248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macOS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8920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5248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GDD v2 —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Document de conception interne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DES MATIÈRES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74920" y="198424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1831" y="2141159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5960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Pitch, USP &amp; références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8745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10607040" y="198424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951" y="2141159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Gameflow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498080" y="2350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Personnage principal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2918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5074920" y="340156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831" y="3558479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96596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loop, inputs &amp; mécaniques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72200" y="31089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400800" y="32918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Shape 19"/>
          <p:cNvSpPr/>
          <p:nvPr/>
        </p:nvSpPr>
        <p:spPr>
          <a:xfrm>
            <a:off x="10607040" y="340156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951" y="3558479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Design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9808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Campagnes &amp; structure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5262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47091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30" name="Shape 24"/>
          <p:cNvSpPr/>
          <p:nvPr/>
        </p:nvSpPr>
        <p:spPr>
          <a:xfrm>
            <a:off x="5074920" y="481888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831" y="4975799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65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(UI)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965960" y="5184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&amp; menus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172200" y="45262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400800" y="47091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000" dirty="0"/>
          </a:p>
        </p:txBody>
      </p:sp>
      <p:sp>
        <p:nvSpPr>
          <p:cNvPr id="36" name="Shape 29"/>
          <p:cNvSpPr/>
          <p:nvPr/>
        </p:nvSpPr>
        <p:spPr>
          <a:xfrm>
            <a:off x="10607040" y="481888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951" y="4975799"/>
            <a:ext cx="289682" cy="28968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980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Design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498080" y="5184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Radio, 3D &amp; 2D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126480" cy="370332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Inscrit à la compétition SIDEFORCE, le joueur s'affronte sur une série d'épreuves de parkour. Chaque circuit se court contre le chronomètre : on optimise ses trajectoires, on enchaîne les mouvements et on cherche à battre les scores des autres participants.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UNE PHRASE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runner nerveux où la vitesse se mérite : utilisez l'environnement pour la conserver et décrocher la médaille d'or.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1600200"/>
            <a:ext cx="4572000" cy="1097280"/>
          </a:xfrm>
          <a:prstGeom prst="roundRect">
            <a:avLst>
              <a:gd name="adj" fmla="val 75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0" y="184708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671" y="2003999"/>
            <a:ext cx="289682" cy="28968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0100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0" y="2167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· Optimise · Recommence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95160" y="2880360"/>
            <a:ext cx="4572000" cy="1097280"/>
          </a:xfrm>
          <a:prstGeom prst="roundRect">
            <a:avLst>
              <a:gd name="adj" fmla="val 75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23760" y="312724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671" y="3284159"/>
            <a:ext cx="289682" cy="28968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0100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001000" y="3447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· Argent · Or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995160" y="4160520"/>
            <a:ext cx="4572000" cy="1097280"/>
          </a:xfrm>
          <a:prstGeom prst="roundRect">
            <a:avLst>
              <a:gd name="adj" fmla="val 75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23760" y="4407408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671" y="4564319"/>
            <a:ext cx="289682" cy="2896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01000" y="4389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Cœur du jeu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001000" y="4727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 &amp; inertie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Selling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031" y="2077151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basé sur l'inertie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déplacement fluide où toutes les forces s'additionnent. La vitesse se construit, se conserve et se transfère d'une mécanique à l'autre.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73736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772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949440" y="1920240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351" y="2077151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sonore dynamique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son réagit au mouvement : égalisation, basses et effets se modulent en temps réel avec la vitesse du joueur.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173736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32104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10652760" y="1920240"/>
            <a:ext cx="603504" cy="603504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671" y="2077151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Musique personnalisable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21040" y="36118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radio embarquée avec plusieurs playlists — et la possibilité d'ajouter ses propres morceaux au jeu.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trois piliers guident chaque décision de design — du level design au feedback à l'écran.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Mirror's Edge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83280" y="19842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29260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786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Déplacement &amp; lecture de niveau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Ghostrunner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86600" y="19842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487168"/>
            <a:ext cx="29260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5786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Wall-run &amp; slide nerveux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Titanfall 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0" y="19842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487168"/>
            <a:ext cx="29260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5786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Mobilité &amp; enchaînements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Legends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83280" y="37673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270248"/>
            <a:ext cx="29260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61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&amp; wall-run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35204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Trackmania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86600" y="37673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4270248"/>
            <a:ext cx="29260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361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temps à battre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5204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2104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Valorant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789920" y="37673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4270248"/>
            <a:ext cx="29260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361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artistique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style graphique s'inspire directement de Valorant : net, lisible et coloré.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Personnage principal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00" cy="370332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DE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personnage part d'une combinaison classique sur laquelle se greffent des plaques d'armure futuristes qui évoquent la modernité. La silhouette reste très fine et profilée : elle traduit visuellement la vélocité, cœur de l'expérience Sideforce.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INTENTIONS CLÉS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fine et lisible en pleine vitesse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Armure futuriste = modernité et performance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profilée orientée mouvement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61320" y="1691640"/>
            <a:ext cx="914400" cy="91440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4" y="1929384"/>
            <a:ext cx="438912" cy="4389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0" y="278892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29600" y="2898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jet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0" y="3191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de chara-design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0" y="365760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29600" y="3767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 la forme du corps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98080" y="4526280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352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229600" y="4636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Sculpt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0" y="4928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3D du personnage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— A. CORE GAMEPLAY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boucle de jeu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83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Sideforce se déroule sur des cartes courtes et complexes où la compétition est au cœur de l'action. Terminez le circuit le plus vite possible et servez-vous de l'environnement pour maintenir votre vitesse et viser le meilleur score.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456432"/>
            <a:ext cx="640080" cy="64008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3622853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45920" y="3767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Départ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44805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circuit se lance, chrono enclenché.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182112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42900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85032" y="3456432"/>
            <a:ext cx="640080" cy="64008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53" y="3622853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3484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434840" y="3767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703320" y="44805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Trajectoires propres, vitesse conservée.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971032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8"/>
          <p:cNvSpPr/>
          <p:nvPr/>
        </p:nvSpPr>
        <p:spPr>
          <a:xfrm>
            <a:off x="621792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73952" y="3456432"/>
            <a:ext cx="640080" cy="64008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3622853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2376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223760" y="3767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Accélérer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92240" y="44805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Enchaîner les mécaniques sans casser le flow.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759952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4"/>
          <p:cNvSpPr/>
          <p:nvPr/>
        </p:nvSpPr>
        <p:spPr>
          <a:xfrm>
            <a:off x="900684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62872" y="3456432"/>
            <a:ext cx="640080" cy="64008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293" y="3622853"/>
            <a:ext cx="307238" cy="30723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01268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012680" y="3767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Médaille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281160" y="44805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Or, argent ou bronze selon le temps.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de jeu — courte, rejouable, orientée score.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— DÉROULEMENT D'UNE PARTIE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Victoire &amp; défaite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171E2E"/>
          </a:solidFill>
          <a:ln w="16510">
            <a:solidFill>
              <a:srgbClr val="2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965960"/>
            <a:ext cx="731520" cy="73152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15615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121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DE VICTOIRE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partie se joue en deux temps : réaliser le parcours en optimisant ses trajectoires, puis prendre un maximum de vitesse pour finir la course.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Assez rapide, trajectoires optimisées et aucun obstacle heurté → le joueur décroche une médaille 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05840" y="480060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1E2740"/>
          </a:solidFill>
          <a:ln w="16510">
            <a:solidFill>
              <a:srgbClr val="C079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800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07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633472" y="480060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1E2740"/>
          </a:solidFill>
          <a:ln w="16510">
            <a:solidFill>
              <a:srgbClr val="B8C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33472" y="4800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61104" y="480060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1E2740"/>
          </a:solidFill>
          <a:ln w="16510">
            <a:solidFill>
              <a:srgbClr val="FFC2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61104" y="4800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C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4652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71E2E"/>
          </a:solidFill>
          <a:ln w="16510">
            <a:solidFill>
              <a:srgbClr val="FF44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0" y="1965960"/>
            <a:ext cx="731520" cy="73152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755" y="2156155"/>
            <a:ext cx="351130" cy="3511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8096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DE DÉFAITE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812280" y="2880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règles sont simples — la course s'arrête et le niveau recommence depuis le début si :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12280" y="36118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49440" y="3611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54380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Chute dans le vide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54380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personnage sort du parcours.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812280" y="45720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9440" y="4572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7543800" y="4700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Touché par un tir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543800" y="5001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projectile atteint le joueur.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— B. 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866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29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CLAVIER / SOURIS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274320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7432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03120" y="2743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 / Double saut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5840" y="324612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246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103120" y="3246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/ Slide crouch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374904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749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03120" y="37490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Stomp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5840" y="425196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4251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103120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05840" y="475488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754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103120" y="4754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 (choix multiples)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05840" y="525780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2578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ZQSD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103120" y="5257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Déplacement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4652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766560" y="1920240"/>
            <a:ext cx="640080" cy="64008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81" y="2086661"/>
            <a:ext cx="307238" cy="30723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543800" y="2029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MANETTE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6812280" y="274320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812280" y="2743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909560" y="2743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 / Double saut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812280" y="324612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12280" y="3246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909560" y="3246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/ Stomp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812280" y="374904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812280" y="3749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909560" y="3749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812280" y="425196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812280" y="4251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 / RB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7909560" y="4251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 (choix multiples)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6812280" y="475488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812280" y="4754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G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7909560" y="47548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Déplacement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6812280" y="525780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E2740"/>
          </a:solidFill>
          <a:ln w="12700">
            <a:solidFill>
              <a:srgbClr val="29E0D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812280" y="52578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D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7909560" y="5257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Caméra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de référence — les bindings restent personnalisables.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— C. MÉCANIQUES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des mécaniques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98973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Run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304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Courir sur n'importe quel mur en sautant à proximité avec assez de vitesse.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6459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18470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198973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2304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Glisser au sol (touche C) lorsque la vitesse est suffisante.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47888" y="18470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198973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Crouch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75320" y="2304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Glisser sous un obstacle bas en restant en slide.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" y="30175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" y="32186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3361334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68680" y="3675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Sauter via la barre Espace.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43400" y="30175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44568" y="32186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214" y="3361334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Jump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72000" y="3675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second saut en appuyant deux fois sur Espace.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046720" y="30175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47888" y="32186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3361334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154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275320" y="3675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Augmenter la vitesse de course au sol.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0080" y="43891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1248" y="45902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94" y="4732934"/>
            <a:ext cx="263347" cy="263347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50876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Stomp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868680" y="5047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plaquer au sol en l'air (touche X).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343400" y="43891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44568" y="45902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7214" y="4732934"/>
            <a:ext cx="263347" cy="263347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21208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4572000" y="5047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 à choix multiples : touches Q ou D.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8046720" y="4389120"/>
            <a:ext cx="3474720" cy="1207008"/>
          </a:xfrm>
          <a:prstGeom prst="roundRect">
            <a:avLst>
              <a:gd name="adj" fmla="val 681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247888" y="4590288"/>
            <a:ext cx="548640" cy="54864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0534" y="4732934"/>
            <a:ext cx="263347" cy="263347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91540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Pad</a:t>
            </a:r>
            <a:endParaRPr lang="en-US" sz="1400" dirty="0"/>
          </a:p>
        </p:txBody>
      </p:sp>
      <p:sp>
        <p:nvSpPr>
          <p:cNvPr id="50" name="Text 39"/>
          <p:cNvSpPr/>
          <p:nvPr/>
        </p:nvSpPr>
        <p:spPr>
          <a:xfrm>
            <a:off x="8275320" y="5047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qui propulse le joueur en hauteur.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— D. MÉCANIQUES DE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mouvement fluide, basé sur l'inertie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276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mouvement est au cœur de toutes les mécaniques. Il s'articule autour de deux pôles : l'application des forces, et les effets de feedback qui en découlent.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L'APPLICATION DES FORCES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3310128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937" y="3457529"/>
            <a:ext cx="272125" cy="2721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3227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dynamique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00200" y="354787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le joueur glisse vite, plus la friction baisse ; à la marche, elle augmente.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172200" y="306324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91656" y="3310128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057" y="3457529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3227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aérien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132320" y="354787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peut tourner légèrement en l'air en gardant sa vélocité, jusqu'à un certain écart de direction.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640080" y="429768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9536" y="4544568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4691969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 de forces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600200" y="478231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frame, une force d'accélération s'accumule. Les forces s'additionnent sans s'annuler — d'où la fluidité.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6172200" y="4297680"/>
            <a:ext cx="5257800" cy="1097280"/>
          </a:xfrm>
          <a:prstGeom prst="roundRect">
            <a:avLst>
              <a:gd name="adj" fmla="val 75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91656" y="4544568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057" y="4691969"/>
            <a:ext cx="272125" cy="27212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maximales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132320" y="478231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mode de déplacement a sa vitesse terminale ; la chute est plafonnée par la gravité.</a:t>
            </a:r>
            <a:endParaRPr lang="en-US" sz="1080" dirty="0"/>
          </a:p>
        </p:txBody>
      </p:sp>
      <p:sp>
        <p:nvSpPr>
          <p:cNvPr id="29" name="Text 23"/>
          <p:cNvSpPr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force n'annule instantanément une autre — sauf collision frontale avec un mur.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— D. MÉCANIQUES DE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feedback de la vitesse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75688"/>
            <a:ext cx="713232" cy="713232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2261128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12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FOV dynamique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de vision s'élargit à l'approche de la vitesse maximale, renforçant la sensation de vitesse.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075688"/>
            <a:ext cx="713232" cy="713232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960" y="226112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12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lines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lignes blanches apparaissent progressivement sur les bords de l'écran près de la vitesse max.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6576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950208"/>
            <a:ext cx="713232" cy="713232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40" y="413564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Caméra dynamique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60120" y="4572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mouvements de caméra doux : en wall-run, elle s'incline en ~1 s pour simuler le décalage du corps.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36576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3950208"/>
            <a:ext cx="713232" cy="713232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60" y="4135648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réactive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92240" y="4572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Couleur, décalage et taille de l'UI suivent la vélocité — l'interface glisse à l'opposé du mouvement.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est feedback : chaque effet sert à faire ressentir la vitesse plutôt qu'à la décrire.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expérience sonore dynamique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bande sonore se scinde en trois couches, toutes pensées pour réagir au mouvement du joueur.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38475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194560"/>
            <a:ext cx="731520" cy="73152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238475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SFX 3D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194560"/>
            <a:ext cx="731520" cy="73152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3847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SFX 2D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828800" y="2542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du joueur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532120" y="2542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Effets 3D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235440" y="2542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Effets 2D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4400" y="320040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playlists — Drum &amp; Bass, Rock, Dubstep — et une playlist Utilisateur pour ajouter ses propres morceaux. La musique réagit aux actions : EQ qui monte avec la vitesse, plus de basses en glissade, plus d'aigus dans les airs, mix + flangers près de la vélocité terminale.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617720" y="320040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SFX et sons d'environnement placés en 3D, avec effet Doppler : la fréquence monte en s'approchant d'une source, baisse en s'en éloignant. Réverbération adaptée à chaque environnement.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321040" y="320040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Présents surtout dans les menus : sons des boutons d'interface et musique de menu.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DESIGN — A. PLANS DES NIVEAUX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en campagnes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937760" cy="3840480"/>
          </a:xfrm>
          <a:prstGeom prst="roundRect">
            <a:avLst>
              <a:gd name="adj" fmla="val 2381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11680"/>
            <a:ext cx="731520" cy="731520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2018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1671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9260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niveaux sont regroupés en campagnes. Chaque campagne se compose de 5 niveaux, pensés pour offrir une progression cohérente en difficulté et en maîtrise du mouvement.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4434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5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niveaux / campagne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D'UNE CAMPAGNE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194560"/>
            <a:ext cx="5715000" cy="585216"/>
          </a:xfrm>
          <a:prstGeom prst="roundRect">
            <a:avLst>
              <a:gd name="adj" fmla="val 1093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19456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0" y="21945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Découverte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52160" y="2907792"/>
            <a:ext cx="5715000" cy="585216"/>
          </a:xfrm>
          <a:prstGeom prst="roundRect">
            <a:avLst>
              <a:gd name="adj" fmla="val 1093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90779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0" y="290779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52160" y="3621024"/>
            <a:ext cx="5715000" cy="585216"/>
          </a:xfrm>
          <a:prstGeom prst="roundRect">
            <a:avLst>
              <a:gd name="adj" fmla="val 1093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362102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0" y="3621024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pratique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52160" y="4334256"/>
            <a:ext cx="5715000" cy="585216"/>
          </a:xfrm>
          <a:prstGeom prst="roundRect">
            <a:avLst>
              <a:gd name="adj" fmla="val 10938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433425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0" y="433425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852160" y="5047488"/>
            <a:ext cx="5715000" cy="585216"/>
          </a:xfrm>
          <a:prstGeom prst="roundRect">
            <a:avLst>
              <a:gd name="adj" fmla="val 10938"/>
            </a:avLst>
          </a:prstGeom>
          <a:solidFill>
            <a:srgbClr val="1E2740"/>
          </a:solidFill>
          <a:ln w="16510">
            <a:solidFill>
              <a:srgbClr val="FF44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0" y="504748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29600" y="5047488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Climax de campagne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DESIGN — B. STRUCTURE DES NIVEAUX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Blocs d'action &amp; transitions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blocs d'action sont des assortiments de mécaniques qui composent un niveau. Entre chaque bloc se trouve une transition. Tous les niveaux doivent être pensés selon ce rythme.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171E2E"/>
          </a:solidFill>
          <a:ln w="17780">
            <a:solidFill>
              <a:srgbClr val="FF44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Enchaînement de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4290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926080" y="3429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3017520"/>
            <a:ext cx="109728" cy="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3236976"/>
            <a:ext cx="109728" cy="-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3017520"/>
            <a:ext cx="109728" cy="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9584" y="3236976"/>
            <a:ext cx="109728" cy="-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310896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171E2E"/>
          </a:solidFill>
          <a:ln w="17780">
            <a:solidFill>
              <a:srgbClr val="2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Enchaînement de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mécaniques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E2740"/>
          </a:solidFill>
          <a:ln w="12700">
            <a:solidFill>
              <a:srgbClr val="2A345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92240" y="3429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109728" cy="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3236976"/>
            <a:ext cx="109728" cy="-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95744" y="3017520"/>
            <a:ext cx="109728" cy="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3236976"/>
            <a:ext cx="109728" cy="-109728"/>
          </a:xfrm>
          <a:prstGeom prst="line">
            <a:avLst/>
          </a:prstGeom>
          <a:noFill/>
          <a:ln w="31750">
            <a:solidFill>
              <a:srgbClr val="8A97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10896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171E2E"/>
          </a:solidFill>
          <a:ln w="17780">
            <a:solidFill>
              <a:srgbClr val="FF44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Enchaînement de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mécaniques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Rythme cible : action → respiration → action. Le flow du joueur ne doit jamais casser.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— A.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&amp;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34295" y="4754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4754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 </a:t>
            </a:r>
            <a:pPr algn="ctr" indent="0" marL="0">
              <a:buNone/>
            </a:pPr>
            <a:r>
              <a:rPr lang="en-US" sz="1400" b="1" spc="1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675120" cy="3931920"/>
          </a:xfrm>
          <a:prstGeom prst="roundRect">
            <a:avLst>
              <a:gd name="adj" fmla="val 2326"/>
            </a:avLst>
          </a:prstGeom>
          <a:solidFill>
            <a:srgbClr val="0A0E1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APERÇU HUD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22402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40"/>
          </a:solidFill>
          <a:ln w="15240">
            <a:solidFill>
              <a:srgbClr val="29E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240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00:42.18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7180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617720"/>
            <a:ext cx="182880" cy="502920"/>
          </a:xfrm>
          <a:prstGeom prst="rect">
            <a:avLst/>
          </a:prstGeom>
          <a:solidFill>
            <a:srgbClr val="29E0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261872" y="4617720"/>
            <a:ext cx="182880" cy="502920"/>
          </a:xfrm>
          <a:prstGeom prst="rect">
            <a:avLst/>
          </a:prstGeom>
          <a:solidFill>
            <a:srgbClr val="29E0D6"/>
          </a:solidFill>
          <a:ln/>
        </p:spPr>
      </p:sp>
      <p:sp>
        <p:nvSpPr>
          <p:cNvPr id="14" name="Shape 12"/>
          <p:cNvSpPr/>
          <p:nvPr/>
        </p:nvSpPr>
        <p:spPr>
          <a:xfrm>
            <a:off x="1517904" y="4617720"/>
            <a:ext cx="182880" cy="502920"/>
          </a:xfrm>
          <a:prstGeom prst="rect">
            <a:avLst/>
          </a:prstGeom>
          <a:solidFill>
            <a:srgbClr val="29E0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773936" y="4617720"/>
            <a:ext cx="182880" cy="502920"/>
          </a:xfrm>
          <a:prstGeom prst="rect">
            <a:avLst/>
          </a:prstGeom>
          <a:solidFill>
            <a:srgbClr val="29E0D6"/>
          </a:solidFill>
          <a:ln/>
        </p:spPr>
      </p:sp>
      <p:sp>
        <p:nvSpPr>
          <p:cNvPr id="16" name="Shape 14"/>
          <p:cNvSpPr/>
          <p:nvPr/>
        </p:nvSpPr>
        <p:spPr>
          <a:xfrm>
            <a:off x="2029968" y="4617720"/>
            <a:ext cx="182880" cy="502920"/>
          </a:xfrm>
          <a:prstGeom prst="rect">
            <a:avLst/>
          </a:prstGeom>
          <a:solidFill>
            <a:srgbClr val="FF4438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4617720"/>
            <a:ext cx="182880" cy="502920"/>
          </a:xfrm>
          <a:prstGeom prst="rect">
            <a:avLst/>
          </a:prstGeom>
          <a:solidFill>
            <a:srgbClr val="FF4438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2032" y="4617720"/>
            <a:ext cx="182880" cy="502920"/>
          </a:xfrm>
          <a:prstGeom prst="rect">
            <a:avLst/>
          </a:prstGeom>
          <a:solidFill>
            <a:srgbClr val="1E274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98064" y="4617720"/>
            <a:ext cx="182880" cy="502920"/>
          </a:xfrm>
          <a:prstGeom prst="rect">
            <a:avLst/>
          </a:prstGeom>
          <a:solidFill>
            <a:srgbClr val="1E2740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4572000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1E2740"/>
          </a:solidFill>
          <a:ln w="15240">
            <a:solidFill>
              <a:srgbClr val="FFC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 ·  00:40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 indicative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2240280"/>
            <a:ext cx="3886200" cy="960120"/>
          </a:xfrm>
          <a:prstGeom prst="roundRect">
            <a:avLst>
              <a:gd name="adj" fmla="val 8571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82128" y="2423160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FF44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529" y="2570561"/>
            <a:ext cx="272125" cy="27212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95360" y="23865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Lisible à pleine vitesse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59536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minimale, hiérarchie claire.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80960" y="3337560"/>
            <a:ext cx="3886200" cy="960120"/>
          </a:xfrm>
          <a:prstGeom prst="roundRect">
            <a:avLst>
              <a:gd name="adj" fmla="val 8571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882128" y="3520440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529" y="3667841"/>
            <a:ext cx="272125" cy="27212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595360" y="34838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Réactive au mouvement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5953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Couleur, taille et décalage suivent la vélocité.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680960" y="4434840"/>
            <a:ext cx="3886200" cy="960120"/>
          </a:xfrm>
          <a:prstGeom prst="roundRect">
            <a:avLst>
              <a:gd name="adj" fmla="val 8571"/>
            </a:avLst>
          </a:prstGeom>
          <a:solidFill>
            <a:srgbClr val="171E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882128" y="4617720"/>
            <a:ext cx="566928" cy="566928"/>
          </a:xfrm>
          <a:prstGeom prst="ellipse">
            <a:avLst/>
          </a:prstGeom>
          <a:solidFill>
            <a:srgbClr val="1E2740"/>
          </a:solidFill>
          <a:ln w="19050">
            <a:solidFill>
              <a:srgbClr val="29E0D6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529" y="4765121"/>
            <a:ext cx="272125" cy="27212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595360" y="45811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Centrée sur le score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859536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 et objectif médaille toujours visibles.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326880" y="-914400"/>
            <a:ext cx="91440" cy="9144000"/>
          </a:xfrm>
          <a:prstGeom prst="rect">
            <a:avLst/>
          </a:prstGeom>
          <a:solidFill>
            <a:srgbClr val="29E0D6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875520" y="-914400"/>
            <a:ext cx="45720" cy="9144000"/>
          </a:xfrm>
          <a:prstGeom prst="rect">
            <a:avLst/>
          </a:prstGeom>
          <a:solidFill>
            <a:srgbClr val="FF443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86000"/>
            <a:ext cx="164592" cy="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615184"/>
            <a:ext cx="164592" cy="-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86000"/>
            <a:ext cx="164592" cy="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615184"/>
            <a:ext cx="164592" cy="-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286000"/>
            <a:ext cx="164592" cy="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615184"/>
            <a:ext cx="164592" cy="-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2286000"/>
            <a:ext cx="164592" cy="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2615184"/>
            <a:ext cx="164592" cy="-164592"/>
          </a:xfrm>
          <a:prstGeom prst="line">
            <a:avLst/>
          </a:prstGeom>
          <a:noFill/>
          <a:ln w="31750">
            <a:solidFill>
              <a:srgbClr val="FF4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9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D'AVOIR LU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SIDEFORCE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 Document — gardez la vitesse.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Sideforce — Game Design Document</dc:title>
  <dc:subject>PptxGenJS Presentation</dc:subject>
  <dc:creator>Sideforce</dc:creator>
  <cp:lastModifiedBy>Sideforce</cp:lastModifiedBy>
  <cp:revision>1</cp:revision>
  <dcterms:created xsi:type="dcterms:W3CDTF">2026-06-18T15:11:25Z</dcterms:created>
  <dcterms:modified xsi:type="dcterms:W3CDTF">2026-06-18T15:11:25Z</dcterms:modified>
</cp:coreProperties>
</file>