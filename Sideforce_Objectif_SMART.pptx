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B2A3A"/>
                </a:solidFill>
                <a:latin typeface="Arial"/>
              </a:rPr>
              <a:t>Objectif SMART — communication Sideforce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96112"/>
            <a:ext cx="10908792" cy="713232"/>
          </a:xfrm>
          <a:prstGeom prst="roundRect">
            <a:avLst>
              <a:gd name="adj" fmla="val 12000"/>
            </a:avLst>
          </a:prstGeom>
          <a:solidFill>
            <a:srgbClr val="F7F3EA"/>
          </a:solidFill>
          <a:ln w="12700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45159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1">
                <a:solidFill>
                  <a:srgbClr val="1B2A3A"/>
                </a:solidFill>
                <a:latin typeface="Arial"/>
              </a:rPr>
              <a:t>Objectif : d'ici le Steam Next Fest (≈ 6 mois), atteindre 5 000 wishlists Steam et 1 000 membres Discord pour Sideforce, grâce aux clips de runs et au relais de créateurs speedrun.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571" y="1828800"/>
            <a:ext cx="205008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6000" b="1" i="0">
                <a:solidFill>
                  <a:srgbClr val="A98C54"/>
                </a:solidFill>
                <a:latin typeface="Arial"/>
              </a:rPr>
              <a:t>S</a:t>
            </a:r>
          </a:p>
        </p:txBody>
      </p:sp>
      <p:sp>
        <p:nvSpPr>
          <p:cNvPr id="6" name="Oval 5"/>
          <p:cNvSpPr/>
          <p:nvPr/>
        </p:nvSpPr>
        <p:spPr>
          <a:xfrm>
            <a:off x="1163574" y="2743200"/>
            <a:ext cx="640080" cy="640080"/>
          </a:xfrm>
          <a:prstGeom prst="ellipse">
            <a:avLst/>
          </a:prstGeom>
          <a:solidFill>
            <a:srgbClr val="EAF0EF"/>
          </a:solidFill>
          <a:ln w="15875">
            <a:solidFill>
              <a:srgbClr val="9DB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3574" y="2743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8A7140"/>
                </a:solidFill>
                <a:latin typeface="Arial"/>
              </a:rPr>
              <a:t>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571" y="3611880"/>
            <a:ext cx="2050084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8299" y="3721608"/>
            <a:ext cx="1830628" cy="438912"/>
          </a:xfrm>
          <a:prstGeom prst="roundRect">
            <a:avLst>
              <a:gd name="adj" fmla="val 18000"/>
            </a:avLst>
          </a:prstGeom>
          <a:solidFill>
            <a:srgbClr val="A98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SPÉCIFIQUE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163" y="4233672"/>
            <a:ext cx="17209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Générer des wishlists Steam et une communauté engagée autour de Sideforce (clips de runs, Discord, créateurs).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4688" y="1828800"/>
            <a:ext cx="205008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6000" b="1" i="0">
                <a:solidFill>
                  <a:srgbClr val="A98C54"/>
                </a:solidFill>
                <a:latin typeface="Arial"/>
              </a:rPr>
              <a:t>M</a:t>
            </a:r>
          </a:p>
        </p:txBody>
      </p:sp>
      <p:sp>
        <p:nvSpPr>
          <p:cNvPr id="12" name="Oval 11"/>
          <p:cNvSpPr/>
          <p:nvPr/>
        </p:nvSpPr>
        <p:spPr>
          <a:xfrm>
            <a:off x="3469690" y="2743200"/>
            <a:ext cx="640080" cy="640080"/>
          </a:xfrm>
          <a:prstGeom prst="ellipse">
            <a:avLst/>
          </a:prstGeom>
          <a:solidFill>
            <a:srgbClr val="EAF0EF"/>
          </a:solidFill>
          <a:ln w="15875">
            <a:solidFill>
              <a:srgbClr val="9DB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9690" y="2743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8A7140"/>
                </a:solidFill>
                <a:latin typeface="Arial"/>
              </a:rPr>
              <a:t>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4688" y="3611880"/>
            <a:ext cx="2050084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74416" y="3721608"/>
            <a:ext cx="1830628" cy="438912"/>
          </a:xfrm>
          <a:prstGeom prst="roundRect">
            <a:avLst>
              <a:gd name="adj" fmla="val 18000"/>
            </a:avLst>
          </a:prstGeom>
          <a:solidFill>
            <a:srgbClr val="A98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MESURABLE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9280" y="4233672"/>
            <a:ext cx="17209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5 000 wishlists Steam · 1 000 membres Discord · 50 clips relayés par des créateurs.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0805" y="1828800"/>
            <a:ext cx="205008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6000" b="1" i="0">
                <a:solidFill>
                  <a:srgbClr val="A98C54"/>
                </a:solidFill>
                <a:latin typeface="Arial"/>
              </a:rP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5775807" y="2743200"/>
            <a:ext cx="640080" cy="640080"/>
          </a:xfrm>
          <a:prstGeom prst="ellipse">
            <a:avLst/>
          </a:prstGeom>
          <a:solidFill>
            <a:srgbClr val="EAF0EF"/>
          </a:solidFill>
          <a:ln w="15875">
            <a:solidFill>
              <a:srgbClr val="9DB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5807" y="2743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8A7140"/>
                </a:solidFill>
                <a:latin typeface="Arial"/>
              </a:rPr>
              <a:t>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0805" y="3611880"/>
            <a:ext cx="2050084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80533" y="3721608"/>
            <a:ext cx="1830628" cy="438912"/>
          </a:xfrm>
          <a:prstGeom prst="roundRect">
            <a:avLst>
              <a:gd name="adj" fmla="val 18000"/>
            </a:avLst>
          </a:prstGeom>
          <a:solidFill>
            <a:srgbClr val="A98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ATTEIGNABLE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5397" y="4233672"/>
            <a:ext cx="17209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Démo au Steam Next Fest, push de créateurs speedrun, viralité TikTok / YouTube Shorts.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922" y="1828800"/>
            <a:ext cx="205008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6000" b="1" i="0">
                <a:solidFill>
                  <a:srgbClr val="A98C54"/>
                </a:solidFill>
                <a:latin typeface="Arial"/>
              </a:rPr>
              <a:t>R</a:t>
            </a:r>
          </a:p>
        </p:txBody>
      </p:sp>
      <p:sp>
        <p:nvSpPr>
          <p:cNvPr id="24" name="Oval 23"/>
          <p:cNvSpPr/>
          <p:nvPr/>
        </p:nvSpPr>
        <p:spPr>
          <a:xfrm>
            <a:off x="8081924" y="2743200"/>
            <a:ext cx="640080" cy="640080"/>
          </a:xfrm>
          <a:prstGeom prst="ellipse">
            <a:avLst/>
          </a:prstGeom>
          <a:solidFill>
            <a:srgbClr val="EAF0EF"/>
          </a:solidFill>
          <a:ln w="15875">
            <a:solidFill>
              <a:srgbClr val="9DB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1924" y="2743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8A7140"/>
                </a:solidFill>
                <a:latin typeface="Arial"/>
              </a:rPr>
              <a:t>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6922" y="3611880"/>
            <a:ext cx="2050084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86650" y="3721608"/>
            <a:ext cx="1830628" cy="438912"/>
          </a:xfrm>
          <a:prstGeom prst="roundRect">
            <a:avLst>
              <a:gd name="adj" fmla="val 18000"/>
            </a:avLst>
          </a:prstGeom>
          <a:solidFill>
            <a:srgbClr val="A98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RÉALISTE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1514" y="4233672"/>
            <a:ext cx="17209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Studio indé : médias owned + earned, niche speedrun très engagée, budget sobre.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038" y="1828800"/>
            <a:ext cx="205008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6000" b="1" i="0">
                <a:solidFill>
                  <a:srgbClr val="A98C54"/>
                </a:solidFill>
                <a:latin typeface="Arial"/>
              </a:rPr>
              <a:t>T</a:t>
            </a:r>
          </a:p>
        </p:txBody>
      </p:sp>
      <p:sp>
        <p:nvSpPr>
          <p:cNvPr id="30" name="Oval 29"/>
          <p:cNvSpPr/>
          <p:nvPr/>
        </p:nvSpPr>
        <p:spPr>
          <a:xfrm>
            <a:off x="10388041" y="2743200"/>
            <a:ext cx="640080" cy="640080"/>
          </a:xfrm>
          <a:prstGeom prst="ellipse">
            <a:avLst/>
          </a:prstGeom>
          <a:solidFill>
            <a:srgbClr val="EAF0EF"/>
          </a:solidFill>
          <a:ln w="15875">
            <a:solidFill>
              <a:srgbClr val="9DB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88041" y="2743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8A7140"/>
                </a:solidFill>
                <a:latin typeface="Arial"/>
              </a:rPr>
              <a:t>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3038" y="3611880"/>
            <a:ext cx="2050084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92766" y="3721608"/>
            <a:ext cx="1830628" cy="438912"/>
          </a:xfrm>
          <a:prstGeom prst="roundRect">
            <a:avLst>
              <a:gd name="adj" fmla="val 18000"/>
            </a:avLst>
          </a:prstGeom>
          <a:solidFill>
            <a:srgbClr val="A98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TEMPOREL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7630" y="4233672"/>
            <a:ext cx="17209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Sur 6 mois — échéance : Steam Next Fest / fenêtre de lancement (date butoir).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27648"/>
            <a:ext cx="1127455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1">
                <a:solidFill>
                  <a:srgbClr val="6B7280"/>
                </a:solidFill>
                <a:latin typeface="Arial"/>
              </a:rPr>
              <a:t>SIDE FORCE — objectif de communication (méthode SMART)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