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B2A3A"/>
                </a:solidFill>
                <a:latin typeface="Arial"/>
              </a:rPr>
              <a:t>Veille concurrentielle — focus communication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35127" y="960120"/>
          <a:ext cx="11521440" cy="537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468880"/>
                <a:gridCol w="2240280"/>
                <a:gridCol w="2697480"/>
                <a:gridCol w="2514600"/>
              </a:tblGrid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CONCURRENT</a:t>
                      </a:r>
                    </a:p>
                  </a:txBody>
                  <a:tcPr anchor="ctr" marL="91440" marR="73152" marT="45720" marB="45720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DÉTAIL DES MOYENS DE COMMUNICATION</a:t>
                      </a:r>
                    </a:p>
                  </a:txBody>
                  <a:tcPr anchor="ctr" marL="91440" marR="73152" marT="45720" marB="45720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COMMUNAUTÉ : VOLUME FOLLOWERS RS</a:t>
                      </a:r>
                    </a:p>
                  </a:txBody>
                  <a:tcPr anchor="ctr" marL="91440" marR="73152" marT="45720" marB="45720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TYPES DE CONTENUS PUBLIÉS / best practices</a:t>
                      </a:r>
                    </a:p>
                  </a:txBody>
                  <a:tcPr anchor="ctr" marL="91440" marR="73152" marT="45720" marB="45720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Les points + et – à retenir</a:t>
                      </a:r>
                    </a:p>
                  </a:txBody>
                  <a:tcPr anchor="ctr" marL="91440" marR="73152" marT="45720" marB="45720">
                    <a:solidFill>
                      <a:srgbClr val="1A1A1A"/>
                    </a:solidFill>
                  </a:tcPr>
                </a:tc>
              </a:tr>
              <a:tr h="159105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B2A3A"/>
                          </a:solidFill>
                          <a:latin typeface="Arial"/>
                        </a:rPr>
                        <a:t>Trackmania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(Nadeo / Ubisoft)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Twitch officiel + e-sport (TMGL)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YouTube, X/Twitter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Partenariats créateurs (Wirtual…)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Plateforme UGC (ManiaExchange)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Modèle free-to-play = acquisition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Très large, portée par les créateurs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Wirtual ≈ 2 M abonnés YouTube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TMGL ≈ 10 k followers X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Reddit / Twitch très actifs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(chiffres ≈ à vérifier)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Compétitions e-sport diffusées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Records, runs, clips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Contenu communautaire (215 k+ circuits)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→ s'appuyer sur créateurs + compétitif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+ Communauté énorme, auto-alimentée (UGC, e-sport), longévité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– Com officielle dispersée, image « hardcore »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</a:tcPr>
                </a:tc>
              </a:tr>
              <a:tr h="159105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B2A3A"/>
                          </a:solidFill>
                          <a:latin typeface="Arial"/>
                        </a:rPr>
                        <a:t>Neon White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(Angel Matrix / Annapurna)</a:t>
                      </a:r>
                    </a:p>
                  </a:txBody>
                  <a:tcPr anchor="ctr" marL="91440" marR="73152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Marketing éditeur (Annapurna)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Trailers stylés, reveal Summer Game Fest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X/Twitter, presse &amp; influenceurs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Démo Steam</a:t>
                      </a:r>
                    </a:p>
                  </a:txBody>
                  <a:tcPr anchor="ctr" marL="91440" marR="73152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Comptes officiels modestes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Forte couverture presse / critique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Communauté speedrun de niche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(chiffres ≈ à vérifier)</a:t>
                      </a:r>
                    </a:p>
                  </a:txBody>
                  <a:tcPr anchor="ctr" marL="91440" marR="73152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Trailers à forte identité visuelle &amp; musicale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Mise en avant style + game feel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Reveal événementiel (SGF)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→ identité de marque forte + presse</a:t>
                      </a:r>
                    </a:p>
                  </a:txBody>
                  <a:tcPr anchor="ctr" marL="91440" marR="73152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+ DA et trailers mémorables, image de marque forte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– Communauté restreinte, peu d'animation continue</a:t>
                      </a:r>
                    </a:p>
                  </a:txBody>
                  <a:tcPr anchor="ctr" marL="91440" marR="73152" marT="45720" marB="45720">
                    <a:solidFill>
                      <a:srgbClr val="F1F2F4"/>
                    </a:solidFill>
                  </a:tcPr>
                </a:tc>
              </a:tr>
              <a:tr h="159105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B2A3A"/>
                          </a:solidFill>
                          <a:latin typeface="Arial"/>
                        </a:rPr>
                        <a:t>Ghostrunner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(One More Level / 505 Games)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Éditeur 505 Games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Trailers d'action, démo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Roadmap &amp; DLC gratuits (long tail)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X / YouTube, crossovers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Communauté moyenne, fidèle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Soutenue par DLC + speedrun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Suite Ghostrunner 2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(chiffres ≈ à vérifier)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Trailers nerveux centrés mouvement/parkour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Updates gratuites régulières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• Clips de skill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→ message clair + long tail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+ Message centré mouvement, long tail bien géré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1B2A3A"/>
                          </a:solidFill>
                          <a:latin typeface="Arial"/>
                        </a:rPr>
                        <a:t>– Démarrage lent, dépend du contenu additionnel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327648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4748B"/>
                </a:solidFill>
                <a:latin typeface="Arial"/>
              </a:rPr>
              <a:t>Veille concurrentielle (focus communication) · SIDE FORCE — chiffres communautaires approximatifs, à confirmer (Social Blade, comptes officiels)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Arial"/>
              </a:rPr>
              <a:t>Enseignements pour Sideforce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45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Ce que la veille communication nous apprend pour notre stratégie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53212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4" y="1563624"/>
            <a:ext cx="5239512" cy="493776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À reproduire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sz="1200">
                <a:solidFill>
                  <a:srgbClr val="2E8B57"/>
                </a:solidFill>
                <a:latin typeface="Arial"/>
              </a:rPr>
              <a:t>•  </a:t>
            </a:r>
            <a:r>
              <a:rPr sz="1200">
                <a:solidFill>
                  <a:srgbClr val="1B2A3A"/>
                </a:solidFill>
                <a:latin typeface="Arial"/>
              </a:rPr>
              <a:t>Clips de runs courts = moteur de viralité (TikTok / Shorts / Twitch)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sz="1200">
                <a:solidFill>
                  <a:srgbClr val="2E8B57"/>
                </a:solidFill>
                <a:latin typeface="Arial"/>
              </a:rPr>
              <a:t>•  </a:t>
            </a:r>
            <a:r>
              <a:rPr sz="1200">
                <a:solidFill>
                  <a:srgbClr val="1B2A3A"/>
                </a:solidFill>
                <a:latin typeface="Arial"/>
              </a:rPr>
              <a:t>S'appuyer sur les créateurs &amp; streamers speedrun dès la pré-sortie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sz="1200">
                <a:solidFill>
                  <a:srgbClr val="2E8B57"/>
                </a:solidFill>
                <a:latin typeface="Arial"/>
              </a:rPr>
              <a:t>•  </a:t>
            </a:r>
            <a:r>
              <a:rPr sz="1200">
                <a:solidFill>
                  <a:srgbClr val="1B2A3A"/>
                </a:solidFill>
                <a:latin typeface="Arial"/>
              </a:rPr>
              <a:t>Identité visuelle &amp; sonore forte (à la Neon White)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sz="1200">
                <a:solidFill>
                  <a:srgbClr val="2E8B57"/>
                </a:solidFill>
                <a:latin typeface="Arial"/>
              </a:rPr>
              <a:t>•  </a:t>
            </a:r>
            <a:r>
              <a:rPr sz="1200">
                <a:solidFill>
                  <a:srgbClr val="1B2A3A"/>
                </a:solidFill>
                <a:latin typeface="Arial"/>
              </a:rPr>
              <a:t>Communauté &amp; UGC / modding pour la longévité (à la Trackmania)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sz="1200">
                <a:solidFill>
                  <a:srgbClr val="2E8B57"/>
                </a:solidFill>
                <a:latin typeface="Arial"/>
              </a:rPr>
              <a:t>•  </a:t>
            </a:r>
            <a:r>
              <a:rPr sz="1200">
                <a:solidFill>
                  <a:srgbClr val="1B2A3A"/>
                </a:solidFill>
                <a:latin typeface="Arial"/>
              </a:rPr>
              <a:t>Message centré sur le mouvement &amp; le game feel (à la Ghostrunner)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53212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45936" y="1563624"/>
            <a:ext cx="5239512" cy="493776"/>
          </a:xfrm>
          <a:prstGeom prst="roundRect">
            <a:avLst>
              <a:gd name="adj" fmla="val 20000"/>
            </a:avLst>
          </a:prstGeom>
          <a:solidFill>
            <a:srgbClr val="BF7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À éviter / vigilance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2258568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sz="1200">
                <a:solidFill>
                  <a:srgbClr val="BF7E33"/>
                </a:solidFill>
                <a:latin typeface="Arial"/>
              </a:rPr>
              <a:t>•  </a:t>
            </a:r>
            <a:r>
              <a:rPr sz="1200">
                <a:solidFill>
                  <a:srgbClr val="1B2A3A"/>
                </a:solidFill>
                <a:latin typeface="Arial"/>
              </a:rPr>
              <a:t>Com officielle dispersée et trop « hardcore »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sz="1200">
                <a:solidFill>
                  <a:srgbClr val="BF7E33"/>
                </a:solidFill>
                <a:latin typeface="Arial"/>
              </a:rPr>
              <a:t>•  </a:t>
            </a:r>
            <a:r>
              <a:rPr sz="1200">
                <a:solidFill>
                  <a:srgbClr val="1B2A3A"/>
                </a:solidFill>
                <a:latin typeface="Arial"/>
              </a:rPr>
              <a:t>Lancement sans animation de communauté ensuite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sz="1200">
                <a:solidFill>
                  <a:srgbClr val="BF7E33"/>
                </a:solidFill>
                <a:latin typeface="Arial"/>
              </a:rPr>
              <a:t>•  </a:t>
            </a:r>
            <a:r>
              <a:rPr sz="1200">
                <a:solidFill>
                  <a:srgbClr val="1B2A3A"/>
                </a:solidFill>
                <a:latin typeface="Arial"/>
              </a:rPr>
              <a:t>Dépendre uniquement du contenu additionnel pour durer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sz="1200">
                <a:solidFill>
                  <a:srgbClr val="BF7E33"/>
                </a:solidFill>
                <a:latin typeface="Arial"/>
              </a:rPr>
              <a:t>•  </a:t>
            </a:r>
            <a:r>
              <a:rPr sz="1200">
                <a:solidFill>
                  <a:srgbClr val="1B2A3A"/>
                </a:solidFill>
                <a:latin typeface="Arial"/>
              </a:rPr>
              <a:t>Compter sur de gros budgets média (irréaliste en indé)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9204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E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83480"/>
            <a:ext cx="10817352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DIAGNOSTIC (en 1 phrase)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2A3A"/>
                </a:solidFill>
                <a:latin typeface="Arial"/>
              </a:rPr>
              <a:t>Sur un marché de niche très communautaire, Sideforce doit miser sur la viralité des runs, le relais par les créateurs et une identité forte — plutôt que sur de gros budgets média — pour exister et durer.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