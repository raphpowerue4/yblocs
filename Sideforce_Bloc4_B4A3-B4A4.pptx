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Arial"/>
              </a:rPr>
              <a:t>Tests techniques, performance &amp; contrôle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Protocole de tests — Bloc 4 · Piloter la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66160" cy="4370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581912"/>
            <a:ext cx="3236976" cy="512064"/>
          </a:xfrm>
          <a:prstGeom prst="roundRect">
            <a:avLst>
              <a:gd name="adj" fmla="val 18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Objectif des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86000"/>
            <a:ext cx="3145536" cy="3364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Garantir la fluidité sur configuration modeste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Mesurer la performance : FPS, frame time, draw calls, mémoire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Contrôler la qualité des assets et de l'éclairage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Vérifier que le game feel n'est jamais requis : jouable sans son et sans screen shake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370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59" y="1581912"/>
            <a:ext cx="3236976" cy="512064"/>
          </a:xfrm>
          <a:prstGeom prst="roundRect">
            <a:avLst>
              <a:gd name="adj" fmla="val 18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Outils de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286000"/>
            <a:ext cx="3145536" cy="3364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Unreal — stat fps / stat unit (FPS, CPU/GPU, mémoire)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Unreal — GPU Dump (analyse de la charge GPU)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FMOD Profiler (charge CPU audio en temps réel → quoi baker)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Tests multi-écrans : PC et Steam Deck (texte lisible confirmé)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9016" y="1417320"/>
            <a:ext cx="3566160" cy="4370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93608" y="1581912"/>
            <a:ext cx="3236976" cy="512064"/>
          </a:xfrm>
          <a:prstGeom prst="roundRect">
            <a:avLst>
              <a:gd name="adj" fmla="val 18000"/>
            </a:avLst>
          </a:prstGeom>
          <a:solidFill>
            <a:srgbClr val="3A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Équipe &amp; supervision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286000"/>
            <a:ext cx="3145536" cy="3364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Tests menés en interne par l'équipe (art + dev)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Supervision &amp; coordination : Raphaël (Game Design)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Anomalies consignées et priorisées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AA99A"/>
                </a:solidFill>
                <a:latin typeface="Arial"/>
              </a:rPr>
              <a:t>•  </a:t>
            </a:r>
            <a:r>
              <a:rPr sz="1250">
                <a:solidFill>
                  <a:srgbClr val="1B2A3A"/>
                </a:solidFill>
                <a:latin typeface="Arial"/>
              </a:rPr>
              <a:t>Itérations jusqu'à l'atteinte des cibles de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64224"/>
            <a:ext cx="68580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B4.A3.C1  ·  TESTS &amp; CONTRÔLE QUALITÉ  (1/2)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364224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Arial"/>
              </a:rPr>
              <a:t>Anomalies détectées lors des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5 anomalies identifiées → corrigées (cycle itératif)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601675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Observation détectée</a:t>
                      </a:r>
                    </a:p>
                  </a:txBody>
                  <a:tcPr anchor="ctr" marL="137160" marR="109728" marT="36576" marB="36576">
                    <a:solidFill>
                      <a:srgbClr val="BF7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Correction apportée</a:t>
                      </a:r>
                    </a:p>
                  </a:txBody>
                  <a:tcPr anchor="ctr" marL="137160" marR="109728" marT="36576" marB="36576">
                    <a:solidFill>
                      <a:srgbClr val="2E8B5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0">
                          <a:solidFill>
                            <a:srgbClr val="1B2A3A"/>
                          </a:solidFill>
                          <a:latin typeface="Arial"/>
                        </a:rPr>
                        <a:t>Surcharge GPU — 1120 draw calls, 6,5 M primitives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1">
                          <a:solidFill>
                            <a:srgbClr val="2E8B7F"/>
                          </a:solidFill>
                          <a:latin typeface="Arial"/>
                        </a:rPr>
                        <a:t>Optimisation des mesh (decimate / retopo) + placement manuel  —  équipe art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0">
                          <a:solidFill>
                            <a:srgbClr val="1B2A3A"/>
                          </a:solidFill>
                          <a:latin typeface="Arial"/>
                        </a:rPr>
                        <a:t>Chute de FPS quand l'herbe est à l'écran</a:t>
                      </a:r>
                    </a:p>
                  </a:txBody>
                  <a:tcPr anchor="ctr" marL="137160" marR="109728" marT="45720" marB="45720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1">
                          <a:solidFill>
                            <a:srgbClr val="2E8B7F"/>
                          </a:solidFill>
                          <a:latin typeface="Arial"/>
                        </a:rPr>
                        <a:t>Désactivation des ombres dynamiques de l'herbe (rendu conservé via occlusion ambiante SSAO)</a:t>
                      </a:r>
                    </a:p>
                  </a:txBody>
                  <a:tcPr anchor="ctr" marL="137160" marR="109728" marT="45720" marB="45720">
                    <a:solidFill>
                      <a:srgbClr val="F7FA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0">
                          <a:solidFill>
                            <a:srgbClr val="1B2A3A"/>
                          </a:solidFill>
                          <a:latin typeface="Arial"/>
                        </a:rPr>
                        <a:t>Collisions murales imprécises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1">
                          <a:solidFill>
                            <a:srgbClr val="2E8B7F"/>
                          </a:solidFill>
                          <a:latin typeface="Arial"/>
                        </a:rPr>
                        <a:t>Ajustement de l'algorithme de détection de course murale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0">
                          <a:solidFill>
                            <a:srgbClr val="1B2A3A"/>
                          </a:solidFill>
                          <a:latin typeface="Arial"/>
                        </a:rPr>
                        <a:t>Joueurs croyant tomber à tort (manque de souplesse)</a:t>
                      </a:r>
                    </a:p>
                  </a:txBody>
                  <a:tcPr anchor="ctr" marL="137160" marR="109728" marT="45720" marB="45720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1">
                          <a:solidFill>
                            <a:srgbClr val="2E8B7F"/>
                          </a:solidFill>
                          <a:latin typeface="Arial"/>
                        </a:rPr>
                        <a:t>Ajout du Coyote Time — accessibilité, compense l'input lag</a:t>
                      </a:r>
                    </a:p>
                  </a:txBody>
                  <a:tcPr anchor="ctr" marL="137160" marR="109728" marT="45720" marB="45720">
                    <a:solidFill>
                      <a:srgbClr val="F7FA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0">
                          <a:solidFill>
                            <a:srgbClr val="1B2A3A"/>
                          </a:solidFill>
                          <a:latin typeface="Arial"/>
                        </a:rPr>
                        <a:t>Polices d'écriture trop petites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250" b="1">
                          <a:solidFill>
                            <a:srgbClr val="2E8B7F"/>
                          </a:solidFill>
                          <a:latin typeface="Arial"/>
                        </a:rPr>
                        <a:t>Agrandissement — lisibilité validée jusqu'au Steam Deck</a:t>
                      </a:r>
                    </a:p>
                  </a:txBody>
                  <a:tcPr anchor="ctr" marL="137160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64224"/>
            <a:ext cx="68580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B4.A3.C1  ·  ANOMALIES IDENTIFIÉES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364224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Arial"/>
              </a:rPr>
              <a:t>Optimisation &amp; baking des lumières — avant / après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243584"/>
            <a:ext cx="5157216" cy="475488"/>
          </a:xfrm>
          <a:prstGeom prst="roundRect">
            <a:avLst>
              <a:gd name="adj" fmla="val 20000"/>
            </a:avLst>
          </a:prstGeom>
          <a:solidFill>
            <a:srgbClr val="BF7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AVANT — non optimisé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084064" cy="1627632"/>
          </a:xfrm>
          <a:prstGeom prst="roundRect">
            <a:avLst>
              <a:gd name="adj" fmla="val 4000"/>
            </a:avLst>
          </a:prstGeom>
          <a:solidFill>
            <a:srgbClr val="F6EEDF"/>
          </a:solidFill>
          <a:ln w="15875">
            <a:solidFill>
              <a:srgbClr val="BF7E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[ Capture Unreal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Screen 1 — stat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529584"/>
            <a:ext cx="5047488" cy="77724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BF7E33"/>
                </a:solidFill>
                <a:latin typeface="Arial"/>
              </a:rPr>
              <a:t>Scène non optimisée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B2A3A"/>
                </a:solidFill>
                <a:latin typeface="Arial"/>
              </a:rPr>
              <a:t>1120 draws  ·  6,5 M primitives  ·  GPU 5,22 ms  ·  Mém 6,79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097280"/>
            <a:ext cx="5486400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9944" y="1243584"/>
            <a:ext cx="5157216" cy="475488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APRÈS — optimisé + lumières bakées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47088"/>
            <a:ext cx="5084064" cy="1627632"/>
          </a:xfrm>
          <a:prstGeom prst="roundRect">
            <a:avLst>
              <a:gd name="adj" fmla="val 4000"/>
            </a:avLst>
          </a:prstGeom>
          <a:solidFill>
            <a:srgbClr val="E9F6EF"/>
          </a:solidFill>
          <a:ln w="15875">
            <a:solidFill>
              <a:srgbClr val="2E8B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[ Capture Unreal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Screen 2 — stat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529584"/>
            <a:ext cx="5047488" cy="777240"/>
          </a:xfrm>
          <a:prstGeom prst="rect">
            <a:avLst/>
          </a:prstGeom>
          <a:noFill/>
        </p:spPr>
        <p:txBody>
          <a:bodyPr wrap="square" lIns="109728" rIns="109728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E8B57"/>
                </a:solidFill>
                <a:latin typeface="Arial"/>
              </a:rPr>
              <a:t>Optimisé + lumières bakées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B2A3A"/>
                </a:solidFill>
                <a:latin typeface="Arial"/>
              </a:rPr>
              <a:t>60 FPS stable  ·  437 draws (−61 %)  ·  881 K prims (−86 %)  ·  GPU 3,31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53712"/>
            <a:ext cx="11274552" cy="896112"/>
          </a:xfrm>
          <a:prstGeom prst="roundRect">
            <a:avLst>
              <a:gd name="adj" fmla="val 6000"/>
            </a:avLst>
          </a:prstGeom>
          <a:solidFill>
            <a:srgbClr val="E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4663440"/>
            <a:ext cx="228600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AA9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Arial"/>
              </a:rPr>
              <a:t>Screen 3 — Lumen vs Baké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572000"/>
            <a:ext cx="8503920" cy="859536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Impact du baking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2A3A"/>
                </a:solidFill>
                <a:latin typeface="Arial"/>
              </a:rPr>
              <a:t>Sans baking, l'éclairage global temps réel (Lumen) tombe à 48 FPS (Game thread 16,5 ms). Le baking des lumières statiques rétablit 60 FPS.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41264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577840"/>
            <a:ext cx="3483863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8B7F"/>
                </a:solidFill>
                <a:latin typeface="Arial"/>
              </a:rPr>
              <a:t>ANOMALIE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B2A3A"/>
                </a:solidFill>
                <a:latin typeface="Arial"/>
              </a:rPr>
              <a:t>Surcharge GPU + dépendance au GI temps réel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5541264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77840"/>
            <a:ext cx="3483863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8B7F"/>
                </a:solidFill>
                <a:latin typeface="Arial"/>
              </a:rPr>
              <a:t>CORRECTION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B2A3A"/>
                </a:solidFill>
                <a:latin typeface="Arial"/>
              </a:rPr>
              <a:t>Optimisation mesh (équipe art) + baking (Raphaël, GD)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5541264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5577840"/>
            <a:ext cx="3483863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8B7F"/>
                </a:solidFill>
                <a:latin typeface="Arial"/>
              </a:rPr>
              <a:t>RÉSULTAT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B2A3A"/>
                </a:solidFill>
                <a:latin typeface="Arial"/>
              </a:rPr>
              <a:t>Cible de performance atteinte : 60 FPS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64224"/>
            <a:ext cx="685800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7F"/>
                </a:solidFill>
                <a:latin typeface="Arial"/>
              </a:rPr>
              <a:t>B4.A4.C1  ·  EXEMPLE DE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364224"/>
            <a:ext cx="6705295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SIDE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