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2331720"/>
            <a:ext cx="548640" cy="1371600"/>
          </a:xfrm>
          <a:prstGeom prst="roundRect">
            <a:avLst>
              <a:gd name="adj" fmla="val 10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91640" y="2148840"/>
            <a:ext cx="10058400" cy="10972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800" b="1" i="0">
                <a:solidFill>
                  <a:srgbClr val="CDF500"/>
                </a:solidFill>
                <a:latin typeface="Space Grotesk"/>
              </a:rPr>
              <a:t>BLOC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611880"/>
            <a:ext cx="9692640" cy="82296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>
                <a:solidFill>
                  <a:srgbClr val="FFFFFF"/>
                </a:solidFill>
                <a:latin typeface="Space Grotesk"/>
              </a:rPr>
              <a:t>Concevoir et développer une expérience utilisateur digitale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44784" y="384048"/>
            <a:ext cx="201168" cy="201168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82528" y="310896"/>
            <a:ext cx="1097280" cy="34747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SIDE FORCE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120640"/>
            <a:ext cx="914400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98A2AD"/>
                </a:solidFill>
                <a:latin typeface="Space Grotesk"/>
              </a:rPr>
              <a:t>UX · LEVEL DESIGN · GAME FEEL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DF500"/>
                </a:solidFill>
                <a:latin typeface="Space Grotesk"/>
              </a:rPr>
              <a:t>BLOC 3 — SPÉCIALITÉ GAME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382512"/>
            <a:ext cx="4876495" cy="36576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98A2AD"/>
                </a:solidFill>
                <a:latin typeface="Space Grotesk"/>
              </a:rPr>
              <a:t>SIDE FORCE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612880" y="6455664"/>
            <a:ext cx="164592" cy="164592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417320" cy="420624"/>
          </a:xfrm>
          <a:prstGeom prst="roundRect">
            <a:avLst>
              <a:gd name="adj" fmla="val 16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417320" cy="42062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B3.A1.C1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44784" y="384048"/>
            <a:ext cx="201168" cy="201168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82528" y="310896"/>
            <a:ext cx="1097280" cy="34747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SIDE 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FFFFFF"/>
                </a:solidFill>
                <a:latin typeface="Space Grotesk"/>
              </a:rPr>
              <a:t>Compétences acquises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5532120" cy="4114800"/>
          </a:xfrm>
          <a:prstGeom prst="roundRect">
            <a:avLst>
              <a:gd name="adj" fmla="val 4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CDF500"/>
                </a:solidFill>
                <a:latin typeface="Space Grotesk"/>
              </a:rPr>
              <a:t>TECHNIQUES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2331720" cy="640080"/>
          </a:xfrm>
          <a:prstGeom prst="roundRect">
            <a:avLst>
              <a:gd name="adj" fmla="val 18000"/>
            </a:avLst>
          </a:prstGeom>
          <a:noFill/>
          <a:ln w="15875">
            <a:solidFill>
              <a:srgbClr val="CDF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233172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CDF500"/>
                </a:solidFill>
                <a:latin typeface="Arial"/>
              </a:rPr>
              <a:t>Unreal Engine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2560320"/>
            <a:ext cx="2331720" cy="640080"/>
          </a:xfrm>
          <a:prstGeom prst="roundRect">
            <a:avLst>
              <a:gd name="adj" fmla="val 18000"/>
            </a:avLst>
          </a:prstGeom>
          <a:noFill/>
          <a:ln w="15875">
            <a:solidFill>
              <a:srgbClr val="CDF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2560320"/>
            <a:ext cx="233172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CDF500"/>
                </a:solidFill>
                <a:latin typeface="Arial"/>
              </a:rPr>
              <a:t>Slate — Unreal 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29000"/>
            <a:ext cx="2331720" cy="640080"/>
          </a:xfrm>
          <a:prstGeom prst="roundRect">
            <a:avLst>
              <a:gd name="adj" fmla="val 18000"/>
            </a:avLst>
          </a:prstGeom>
          <a:noFill/>
          <a:ln w="15875">
            <a:solidFill>
              <a:srgbClr val="CDF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29000"/>
            <a:ext cx="233172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CDF500"/>
                </a:solidFill>
                <a:latin typeface="Arial"/>
              </a:rPr>
              <a:t>FMOD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3429000"/>
            <a:ext cx="2331720" cy="640080"/>
          </a:xfrm>
          <a:prstGeom prst="roundRect">
            <a:avLst>
              <a:gd name="adj" fmla="val 18000"/>
            </a:avLst>
          </a:prstGeom>
          <a:noFill/>
          <a:ln w="15875">
            <a:solidFill>
              <a:srgbClr val="CDF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3429000"/>
            <a:ext cx="233172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CDF500"/>
                </a:solidFill>
                <a:latin typeface="Arial"/>
              </a:rPr>
              <a:t>Figma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532120" cy="4114800"/>
          </a:xfrm>
          <a:prstGeom prst="roundRect">
            <a:avLst>
              <a:gd name="adj" fmla="val 4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011680"/>
            <a:ext cx="493776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F179A"/>
                </a:solidFill>
                <a:latin typeface="Space Grotesk"/>
              </a:rPr>
              <a:t>CRÉATIVES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73952" y="2560320"/>
            <a:ext cx="2331720" cy="640080"/>
          </a:xfrm>
          <a:prstGeom prst="roundRect">
            <a:avLst>
              <a:gd name="adj" fmla="val 18000"/>
            </a:avLst>
          </a:prstGeom>
          <a:noFill/>
          <a:ln w="15875">
            <a:solidFill>
              <a:srgbClr val="FF1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2560320"/>
            <a:ext cx="233172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179A"/>
                </a:solidFill>
                <a:latin typeface="Arial"/>
              </a:rPr>
              <a:t>Game Design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88552" y="2560320"/>
            <a:ext cx="2331720" cy="640080"/>
          </a:xfrm>
          <a:prstGeom prst="roundRect">
            <a:avLst>
              <a:gd name="adj" fmla="val 18000"/>
            </a:avLst>
          </a:prstGeom>
          <a:noFill/>
          <a:ln w="15875">
            <a:solidFill>
              <a:srgbClr val="FF1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88552" y="2560320"/>
            <a:ext cx="233172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179A"/>
                </a:solidFill>
                <a:latin typeface="Arial"/>
              </a:rPr>
              <a:t>Level Design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73952" y="3429000"/>
            <a:ext cx="2331720" cy="640080"/>
          </a:xfrm>
          <a:prstGeom prst="roundRect">
            <a:avLst>
              <a:gd name="adj" fmla="val 18000"/>
            </a:avLst>
          </a:prstGeom>
          <a:noFill/>
          <a:ln w="15875">
            <a:solidFill>
              <a:srgbClr val="FF1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3429000"/>
            <a:ext cx="233172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179A"/>
                </a:solidFill>
                <a:latin typeface="Arial"/>
              </a:rPr>
              <a:t>UX Design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88552" y="3429000"/>
            <a:ext cx="2331720" cy="640080"/>
          </a:xfrm>
          <a:prstGeom prst="roundRect">
            <a:avLst>
              <a:gd name="adj" fmla="val 18000"/>
            </a:avLst>
          </a:prstGeom>
          <a:noFill/>
          <a:ln w="15875">
            <a:solidFill>
              <a:srgbClr val="FF1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429000"/>
            <a:ext cx="233172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179A"/>
                </a:solidFill>
                <a:latin typeface="Arial"/>
              </a:rPr>
              <a:t>Game feel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DF500"/>
                </a:solidFill>
                <a:latin typeface="Space Grotesk"/>
              </a:rPr>
              <a:t>B3.A1.C1 · COMPÉTENCES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6382512"/>
            <a:ext cx="4876495" cy="36576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98A2AD"/>
                </a:solidFill>
                <a:latin typeface="Space Grotesk"/>
              </a:rPr>
              <a:t>SIDE FORCE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612880" y="6455664"/>
            <a:ext cx="164592" cy="164592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417320" cy="420624"/>
          </a:xfrm>
          <a:prstGeom prst="roundRect">
            <a:avLst>
              <a:gd name="adj" fmla="val 16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417320" cy="42062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B3.A1.C1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44784" y="384048"/>
            <a:ext cx="201168" cy="201168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82528" y="310896"/>
            <a:ext cx="1097280" cy="34747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SIDE 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FFFFFF"/>
                </a:solidFill>
                <a:latin typeface="Space Grotesk"/>
              </a:rPr>
              <a:t>Analyse critique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5532120" cy="4114800"/>
          </a:xfrm>
          <a:prstGeom prst="roundRect">
            <a:avLst>
              <a:gd name="adj" fmla="val 4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783080"/>
            <a:ext cx="5532120" cy="640080"/>
          </a:xfrm>
          <a:prstGeom prst="roundRect">
            <a:avLst>
              <a:gd name="adj" fmla="val 4000"/>
            </a:avLst>
          </a:prstGeom>
          <a:noFill/>
          <a:ln>
            <a:solidFill>
              <a:srgbClr val="CDF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38528"/>
            <a:ext cx="4937760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CDF500"/>
                </a:solidFill>
                <a:latin typeface="Space Grotesk"/>
              </a:rPr>
              <a:t>✓  CE QUI A FONCTIONNÉ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697480"/>
            <a:ext cx="109728" cy="109728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587752"/>
            <a:ext cx="4754880" cy="6400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Système « Bloc d'action » pour le Level Design / UX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3566160"/>
            <a:ext cx="109728" cy="109728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456432"/>
            <a:ext cx="4754880" cy="6400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Prototypage rapide sur Unreal Engine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434840"/>
            <a:ext cx="109728" cy="109728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25112"/>
            <a:ext cx="4754880" cy="6400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Playtests réguliers tout au long du projet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1783080"/>
            <a:ext cx="5532120" cy="4114800"/>
          </a:xfrm>
          <a:prstGeom prst="roundRect">
            <a:avLst>
              <a:gd name="adj" fmla="val 4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938528"/>
            <a:ext cx="4937760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179A"/>
                </a:solidFill>
                <a:latin typeface="Space Grotesk"/>
              </a:rPr>
              <a:t>↻  CE QUE J'AMÉLIORERAIS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2697480"/>
            <a:ext cx="109728" cy="109728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2587752"/>
            <a:ext cx="4754880" cy="6400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Tests d'accessibilité plus précoces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3566160"/>
            <a:ext cx="109728" cy="109728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8272" y="3456432"/>
            <a:ext cx="4754880" cy="6400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Un Google Forms dédié à la partie artistique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4434840"/>
            <a:ext cx="109728" cy="109728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48272" y="4325112"/>
            <a:ext cx="4754880" cy="6400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Documentation plus précoce du projet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DF500"/>
                </a:solidFill>
                <a:latin typeface="Space Grotesk"/>
              </a:rPr>
              <a:t>B3.A1.C1 · RETOUR D'EXPÉRIENCE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382512"/>
            <a:ext cx="4876495" cy="36576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98A2AD"/>
                </a:solidFill>
                <a:latin typeface="Space Grotesk"/>
              </a:rPr>
              <a:t>SIDE FORCE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612880" y="6455664"/>
            <a:ext cx="164592" cy="164592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417320" cy="420624"/>
          </a:xfrm>
          <a:prstGeom prst="roundRect">
            <a:avLst>
              <a:gd name="adj" fmla="val 16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417320" cy="42062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B3.A1.C2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44784" y="384048"/>
            <a:ext cx="201168" cy="201168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82528" y="310896"/>
            <a:ext cx="1097280" cy="34747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SIDE 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FFFFFF"/>
                </a:solidFill>
                <a:latin typeface="Space Grotesk"/>
              </a:rPr>
              <a:t>Brief UX — Sideforce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2194560" cy="7132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CDF500"/>
                </a:solidFill>
                <a:latin typeface="Space Grotesk"/>
              </a:rPr>
              <a:t>OBJECTIF UX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783080"/>
            <a:ext cx="2157984" cy="603504"/>
          </a:xfrm>
          <a:prstGeom prst="roundRect">
            <a:avLst>
              <a:gd name="adj" fmla="val 18000"/>
            </a:avLst>
          </a:prstGeom>
          <a:solidFill>
            <a:srgbClr val="1E232C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1783080"/>
            <a:ext cx="2157984" cy="60350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Entrer vite en jeu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56631" y="1783080"/>
            <a:ext cx="2157984" cy="603504"/>
          </a:xfrm>
          <a:prstGeom prst="roundRect">
            <a:avLst>
              <a:gd name="adj" fmla="val 18000"/>
            </a:avLst>
          </a:prstGeom>
          <a:solidFill>
            <a:srgbClr val="1E232C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56631" y="1783080"/>
            <a:ext cx="2157984" cy="60350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Comprendre le niveau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24344" y="1783080"/>
            <a:ext cx="2157984" cy="603504"/>
          </a:xfrm>
          <a:prstGeom prst="roundRect">
            <a:avLst>
              <a:gd name="adj" fmla="val 18000"/>
            </a:avLst>
          </a:prstGeom>
          <a:solidFill>
            <a:srgbClr val="1E232C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24344" y="1783080"/>
            <a:ext cx="2157984" cy="60350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Maximiser le 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92055" y="1783080"/>
            <a:ext cx="2157984" cy="603504"/>
          </a:xfrm>
          <a:prstGeom prst="roundRect">
            <a:avLst>
              <a:gd name="adj" fmla="val 18000"/>
            </a:avLst>
          </a:prstGeom>
          <a:solidFill>
            <a:srgbClr val="1E232C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92055" y="1783080"/>
            <a:ext cx="2157984" cy="60350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Favoriser la rejouabilité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551176"/>
            <a:ext cx="2194560" cy="7132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CDF500"/>
                </a:solidFill>
                <a:latin typeface="Space Grotesk"/>
              </a:rPr>
              <a:t>MÉTHODOLOGIE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88920" y="2551176"/>
            <a:ext cx="2157984" cy="603504"/>
          </a:xfrm>
          <a:prstGeom prst="roundRect">
            <a:avLst>
              <a:gd name="adj" fmla="val 18000"/>
            </a:avLst>
          </a:prstGeom>
          <a:solidFill>
            <a:srgbClr val="1E232C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8920" y="2551176"/>
            <a:ext cx="2157984" cy="60350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Lean UX / Design Thinking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56631" y="2551176"/>
            <a:ext cx="2157984" cy="603504"/>
          </a:xfrm>
          <a:prstGeom prst="roundRect">
            <a:avLst>
              <a:gd name="adj" fmla="val 18000"/>
            </a:avLst>
          </a:prstGeom>
          <a:solidFill>
            <a:srgbClr val="1E232C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6631" y="2551176"/>
            <a:ext cx="2157984" cy="60350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Ateliers Miro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24344" y="2551176"/>
            <a:ext cx="2157984" cy="603504"/>
          </a:xfrm>
          <a:prstGeom prst="roundRect">
            <a:avLst>
              <a:gd name="adj" fmla="val 18000"/>
            </a:avLst>
          </a:prstGeom>
          <a:solidFill>
            <a:srgbClr val="1E232C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24344" y="2551176"/>
            <a:ext cx="2157984" cy="60350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Wireframes Figma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92055" y="2551176"/>
            <a:ext cx="2157984" cy="603504"/>
          </a:xfrm>
          <a:prstGeom prst="roundRect">
            <a:avLst>
              <a:gd name="adj" fmla="val 18000"/>
            </a:avLst>
          </a:prstGeom>
          <a:solidFill>
            <a:srgbClr val="1E232C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92055" y="2551176"/>
            <a:ext cx="2157984" cy="60350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Proto Unreal + playtests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319272"/>
            <a:ext cx="2194560" cy="7132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CDF500"/>
                </a:solidFill>
                <a:latin typeface="Space Grotesk"/>
              </a:rPr>
              <a:t>PRINCIPES ERGO.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88920" y="3319272"/>
            <a:ext cx="2157984" cy="603504"/>
          </a:xfrm>
          <a:prstGeom prst="roundRect">
            <a:avLst>
              <a:gd name="adj" fmla="val 18000"/>
            </a:avLst>
          </a:prstGeom>
          <a:solidFill>
            <a:srgbClr val="1E232C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88920" y="3319272"/>
            <a:ext cx="2157984" cy="60350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Contraste élevé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56631" y="3319272"/>
            <a:ext cx="2157984" cy="603504"/>
          </a:xfrm>
          <a:prstGeom prst="roundRect">
            <a:avLst>
              <a:gd name="adj" fmla="val 18000"/>
            </a:avLst>
          </a:prstGeom>
          <a:solidFill>
            <a:srgbClr val="1E232C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56631" y="3319272"/>
            <a:ext cx="2157984" cy="60350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Feedback instantané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24344" y="3319272"/>
            <a:ext cx="2157984" cy="603504"/>
          </a:xfrm>
          <a:prstGeom prst="roundRect">
            <a:avLst>
              <a:gd name="adj" fmla="val 18000"/>
            </a:avLst>
          </a:prstGeom>
          <a:solidFill>
            <a:srgbClr val="1E232C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24344" y="3319272"/>
            <a:ext cx="2157984" cy="60350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Navigation clavier/manette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92055" y="3319272"/>
            <a:ext cx="2157984" cy="603504"/>
          </a:xfrm>
          <a:prstGeom prst="roundRect">
            <a:avLst>
              <a:gd name="adj" fmla="val 18000"/>
            </a:avLst>
          </a:prstGeom>
          <a:solidFill>
            <a:srgbClr val="1E232C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92055" y="3319272"/>
            <a:ext cx="2157984" cy="60350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Hiérarchie visuelle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087368"/>
            <a:ext cx="2194560" cy="7132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CDF500"/>
                </a:solidFill>
                <a:latin typeface="Space Grotesk"/>
              </a:rPr>
              <a:t>ACCESSIBILITÉ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88920" y="4087368"/>
            <a:ext cx="2157984" cy="603504"/>
          </a:xfrm>
          <a:prstGeom prst="roundRect">
            <a:avLst>
              <a:gd name="adj" fmla="val 18000"/>
            </a:avLst>
          </a:prstGeom>
          <a:solidFill>
            <a:srgbClr val="1E232C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88920" y="4087368"/>
            <a:ext cx="2157984" cy="60350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Remapping complet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56631" y="4087368"/>
            <a:ext cx="2157984" cy="603504"/>
          </a:xfrm>
          <a:prstGeom prst="roundRect">
            <a:avLst>
              <a:gd name="adj" fmla="val 18000"/>
            </a:avLst>
          </a:prstGeom>
          <a:solidFill>
            <a:srgbClr val="1E232C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56631" y="4087368"/>
            <a:ext cx="2157984" cy="60350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Jouable sans son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24344" y="4087368"/>
            <a:ext cx="2157984" cy="603504"/>
          </a:xfrm>
          <a:prstGeom prst="roundRect">
            <a:avLst>
              <a:gd name="adj" fmla="val 18000"/>
            </a:avLst>
          </a:prstGeom>
          <a:solidFill>
            <a:srgbClr val="1E232C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24344" y="4087368"/>
            <a:ext cx="2157984" cy="60350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Compatibilité contrôleurs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592055" y="4087368"/>
            <a:ext cx="2157984" cy="603504"/>
          </a:xfrm>
          <a:prstGeom prst="roundRect">
            <a:avLst>
              <a:gd name="adj" fmla="val 18000"/>
            </a:avLst>
          </a:prstGeom>
          <a:solidFill>
            <a:srgbClr val="1E232C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92055" y="4087368"/>
            <a:ext cx="2157984" cy="60350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Plusieurs difficultés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855464"/>
            <a:ext cx="2194560" cy="7132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179A"/>
                </a:solidFill>
                <a:latin typeface="Space Grotesk"/>
              </a:rPr>
              <a:t>NORMES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88920" y="4855464"/>
            <a:ext cx="2157984" cy="603504"/>
          </a:xfrm>
          <a:prstGeom prst="roundRect">
            <a:avLst>
              <a:gd name="adj" fmla="val 18000"/>
            </a:avLst>
          </a:prstGeom>
          <a:noFill/>
          <a:ln w="15875">
            <a:solidFill>
              <a:srgbClr val="FF1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88920" y="4855464"/>
            <a:ext cx="2157984" cy="60350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179A"/>
                </a:solidFill>
                <a:latin typeface="Arial"/>
              </a:rPr>
              <a:t>ISO 9241-210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56631" y="4855464"/>
            <a:ext cx="2157984" cy="603504"/>
          </a:xfrm>
          <a:prstGeom prst="roundRect">
            <a:avLst>
              <a:gd name="adj" fmla="val 18000"/>
            </a:avLst>
          </a:prstGeom>
          <a:noFill/>
          <a:ln w="15875">
            <a:solidFill>
              <a:srgbClr val="FF1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56631" y="4855464"/>
            <a:ext cx="2157984" cy="60350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179A"/>
                </a:solidFill>
                <a:latin typeface="Arial"/>
              </a:rPr>
              <a:t>WCAG 2.1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24344" y="4855464"/>
            <a:ext cx="2157984" cy="603504"/>
          </a:xfrm>
          <a:prstGeom prst="roundRect">
            <a:avLst>
              <a:gd name="adj" fmla="val 18000"/>
            </a:avLst>
          </a:prstGeom>
          <a:noFill/>
          <a:ln w="15875">
            <a:solidFill>
              <a:srgbClr val="FF1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24344" y="4855464"/>
            <a:ext cx="2157984" cy="60350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179A"/>
                </a:solidFill>
                <a:latin typeface="Arial"/>
              </a:rPr>
              <a:t>RGAA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592055" y="4855464"/>
            <a:ext cx="2157984" cy="603504"/>
          </a:xfrm>
          <a:prstGeom prst="roundRect">
            <a:avLst>
              <a:gd name="adj" fmla="val 18000"/>
            </a:avLst>
          </a:prstGeom>
          <a:noFill/>
          <a:ln w="15875">
            <a:solidFill>
              <a:srgbClr val="FF1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92055" y="4855464"/>
            <a:ext cx="2157984" cy="60350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179A"/>
                </a:solidFill>
                <a:latin typeface="Arial"/>
              </a:rPr>
              <a:t>RGPD · RGESN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DF500"/>
                </a:solidFill>
                <a:latin typeface="Space Grotesk"/>
              </a:rPr>
              <a:t>B3.A1.C2 · BRIEF UX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0" y="6382512"/>
            <a:ext cx="4876495" cy="36576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98A2AD"/>
                </a:solidFill>
                <a:latin typeface="Space Grotesk"/>
              </a:rPr>
              <a:t>SIDE FORCE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612880" y="6455664"/>
            <a:ext cx="164592" cy="164592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417320" cy="420624"/>
          </a:xfrm>
          <a:prstGeom prst="roundRect">
            <a:avLst>
              <a:gd name="adj" fmla="val 16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417320" cy="42062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B3.A2.C2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44784" y="384048"/>
            <a:ext cx="201168" cy="201168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82528" y="310896"/>
            <a:ext cx="1097280" cy="34747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SIDE 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FFFFFF"/>
                </a:solidFill>
                <a:latin typeface="Space Grotesk"/>
              </a:rPr>
              <a:t>Parcours utilisateur — cartographie 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2221992" cy="502920"/>
          </a:xfrm>
          <a:prstGeom prst="roundRect">
            <a:avLst>
              <a:gd name="adj" fmla="val 10000"/>
            </a:avLst>
          </a:prstGeom>
          <a:solidFill>
            <a:srgbClr val="1E232C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2221992" cy="5029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CDF500"/>
                </a:solidFill>
                <a:latin typeface="Space Grotesk"/>
              </a:rPr>
              <a:t>ÉTAT INITIAL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15768" y="1828800"/>
            <a:ext cx="2221992" cy="502920"/>
          </a:xfrm>
          <a:prstGeom prst="roundRect">
            <a:avLst>
              <a:gd name="adj" fmla="val 10000"/>
            </a:avLst>
          </a:prstGeom>
          <a:solidFill>
            <a:srgbClr val="1E232C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5768" y="1828800"/>
            <a:ext cx="2221992" cy="5029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Space Grotesk"/>
              </a:rPr>
              <a:t>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74336" y="1828800"/>
            <a:ext cx="2221992" cy="502920"/>
          </a:xfrm>
          <a:prstGeom prst="roundRect">
            <a:avLst>
              <a:gd name="adj" fmla="val 10000"/>
            </a:avLst>
          </a:prstGeom>
          <a:solidFill>
            <a:srgbClr val="1E232C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74336" y="1828800"/>
            <a:ext cx="2221992" cy="5029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179A"/>
                </a:solidFill>
                <a:latin typeface="Space Grotesk"/>
              </a:rPr>
              <a:t>PAIN POINT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2904" y="1828800"/>
            <a:ext cx="2221992" cy="502920"/>
          </a:xfrm>
          <a:prstGeom prst="roundRect">
            <a:avLst>
              <a:gd name="adj" fmla="val 10000"/>
            </a:avLst>
          </a:prstGeom>
          <a:solidFill>
            <a:srgbClr val="1E232C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2904" y="1828800"/>
            <a:ext cx="2221992" cy="5029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CDF500"/>
                </a:solidFill>
                <a:latin typeface="Space Grotesk"/>
              </a:rPr>
              <a:t>SOLUTION UX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91472" y="1828800"/>
            <a:ext cx="2221992" cy="502920"/>
          </a:xfrm>
          <a:prstGeom prst="roundRect">
            <a:avLst>
              <a:gd name="adj" fmla="val 10000"/>
            </a:avLst>
          </a:prstGeom>
          <a:solidFill>
            <a:srgbClr val="1E232C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91472" y="1828800"/>
            <a:ext cx="2221992" cy="5029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2BD6F5"/>
                </a:solidFill>
                <a:latin typeface="Space Grotesk"/>
              </a:rPr>
              <a:t>OBJECTIF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423160"/>
            <a:ext cx="2221992" cy="841248"/>
          </a:xfrm>
          <a:prstGeom prst="roundRect">
            <a:avLst>
              <a:gd name="adj" fmla="val 8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423160"/>
            <a:ext cx="2130552" cy="8412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Je lance le jeu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15768" y="2423160"/>
            <a:ext cx="2221992" cy="841248"/>
          </a:xfrm>
          <a:prstGeom prst="roundRect">
            <a:avLst>
              <a:gd name="adj" fmla="val 8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61488" y="2423160"/>
            <a:ext cx="2130552" cy="8412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Sélection campagne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74336" y="2423160"/>
            <a:ext cx="2221992" cy="841248"/>
          </a:xfrm>
          <a:prstGeom prst="roundRect">
            <a:avLst>
              <a:gd name="adj" fmla="val 8000"/>
            </a:avLst>
          </a:prstGeom>
          <a:solidFill>
            <a:srgbClr val="2A1320"/>
          </a:solidFill>
          <a:ln w="12700">
            <a:solidFill>
              <a:srgbClr val="FF1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0056" y="2423160"/>
            <a:ext cx="2130552" cy="8412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FF179A"/>
                </a:solidFill>
                <a:latin typeface="Arial"/>
              </a:rPr>
              <a:t>Trop d'étapes avant de jouer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32904" y="2423160"/>
            <a:ext cx="2221992" cy="841248"/>
          </a:xfrm>
          <a:prstGeom prst="roundRect">
            <a:avLst>
              <a:gd name="adj" fmla="val 8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78624" y="2423160"/>
            <a:ext cx="2130552" cy="8412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Menu simplifié, gros boutons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91472" y="2423160"/>
            <a:ext cx="2221992" cy="841248"/>
          </a:xfrm>
          <a:prstGeom prst="roundRect">
            <a:avLst>
              <a:gd name="adj" fmla="val 8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37192" y="2423160"/>
            <a:ext cx="2130552" cy="8412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Jouer vite, accessibilité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337560"/>
            <a:ext cx="2221992" cy="841248"/>
          </a:xfrm>
          <a:prstGeom prst="roundRect">
            <a:avLst>
              <a:gd name="adj" fmla="val 8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337560"/>
            <a:ext cx="2130552" cy="8412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Je découvre un niveau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15768" y="3337560"/>
            <a:ext cx="2221992" cy="841248"/>
          </a:xfrm>
          <a:prstGeom prst="roundRect">
            <a:avLst>
              <a:gd name="adj" fmla="val 8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61488" y="3337560"/>
            <a:ext cx="2130552" cy="8412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Observer le parcours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74336" y="3337560"/>
            <a:ext cx="2221992" cy="841248"/>
          </a:xfrm>
          <a:prstGeom prst="roundRect">
            <a:avLst>
              <a:gd name="adj" fmla="val 8000"/>
            </a:avLst>
          </a:prstGeom>
          <a:solidFill>
            <a:srgbClr val="2A1320"/>
          </a:solidFill>
          <a:ln w="12700">
            <a:solidFill>
              <a:srgbClr val="FF1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0056" y="3337560"/>
            <a:ext cx="2130552" cy="8412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FF179A"/>
                </a:solidFill>
                <a:latin typeface="Arial"/>
              </a:rPr>
              <a:t>Difficulté à lire le trajet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32904" y="3337560"/>
            <a:ext cx="2221992" cy="841248"/>
          </a:xfrm>
          <a:prstGeom prst="roundRect">
            <a:avLst>
              <a:gd name="adj" fmla="val 8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78624" y="3337560"/>
            <a:ext cx="2130552" cy="8412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Repères visuels, code couleur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91472" y="3337560"/>
            <a:ext cx="2221992" cy="841248"/>
          </a:xfrm>
          <a:prstGeom prst="roundRect">
            <a:avLst>
              <a:gd name="adj" fmla="val 8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37192" y="3337560"/>
            <a:ext cx="2130552" cy="8412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Comprendre l'objectif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251960"/>
            <a:ext cx="2221992" cy="841248"/>
          </a:xfrm>
          <a:prstGeom prst="roundRect">
            <a:avLst>
              <a:gd name="adj" fmla="val 8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251960"/>
            <a:ext cx="2130552" cy="8412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J'améliore mon score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15768" y="4251960"/>
            <a:ext cx="2221992" cy="841248"/>
          </a:xfrm>
          <a:prstGeom prst="roundRect">
            <a:avLst>
              <a:gd name="adj" fmla="val 8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61488" y="4251960"/>
            <a:ext cx="2130552" cy="8412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Comparer les temps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74336" y="4251960"/>
            <a:ext cx="2221992" cy="841248"/>
          </a:xfrm>
          <a:prstGeom prst="roundRect">
            <a:avLst>
              <a:gd name="adj" fmla="val 8000"/>
            </a:avLst>
          </a:prstGeom>
          <a:solidFill>
            <a:srgbClr val="2A1320"/>
          </a:solidFill>
          <a:ln w="12700">
            <a:solidFill>
              <a:srgbClr val="FF1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0056" y="4251960"/>
            <a:ext cx="2130552" cy="8412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FF179A"/>
                </a:solidFill>
                <a:latin typeface="Arial"/>
              </a:rPr>
              <a:t>Pas de progression visible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32904" y="4251960"/>
            <a:ext cx="2221992" cy="841248"/>
          </a:xfrm>
          <a:prstGeom prst="roundRect">
            <a:avLst>
              <a:gd name="adj" fmla="val 8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78624" y="4251960"/>
            <a:ext cx="2130552" cy="8412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Leaderboard / médailles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91472" y="4251960"/>
            <a:ext cx="2221992" cy="841248"/>
          </a:xfrm>
          <a:prstGeom prst="roundRect">
            <a:avLst>
              <a:gd name="adj" fmla="val 8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37192" y="4251960"/>
            <a:ext cx="2130552" cy="8412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Sentiment de progression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5166360"/>
            <a:ext cx="2221992" cy="841248"/>
          </a:xfrm>
          <a:prstGeom prst="roundRect">
            <a:avLst>
              <a:gd name="adj" fmla="val 8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5166360"/>
            <a:ext cx="2130552" cy="8412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J'échoue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15768" y="5166360"/>
            <a:ext cx="2221992" cy="841248"/>
          </a:xfrm>
          <a:prstGeom prst="roundRect">
            <a:avLst>
              <a:gd name="adj" fmla="val 8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61488" y="5166360"/>
            <a:ext cx="2130552" cy="8412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Retour résultat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974336" y="5166360"/>
            <a:ext cx="2221992" cy="841248"/>
          </a:xfrm>
          <a:prstGeom prst="roundRect">
            <a:avLst>
              <a:gd name="adj" fmla="val 8000"/>
            </a:avLst>
          </a:prstGeom>
          <a:solidFill>
            <a:srgbClr val="2A1320"/>
          </a:solidFill>
          <a:ln w="12700">
            <a:solidFill>
              <a:srgbClr val="FF1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0056" y="5166360"/>
            <a:ext cx="2130552" cy="8412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FF179A"/>
                </a:solidFill>
                <a:latin typeface="Arial"/>
              </a:rPr>
              <a:t>Frustration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32904" y="5166360"/>
            <a:ext cx="2221992" cy="841248"/>
          </a:xfrm>
          <a:prstGeom prst="roundRect">
            <a:avLst>
              <a:gd name="adj" fmla="val 8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78624" y="5166360"/>
            <a:ext cx="2130552" cy="8412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Retry instantané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491472" y="5166360"/>
            <a:ext cx="2221992" cy="841248"/>
          </a:xfrm>
          <a:prstGeom prst="roundRect">
            <a:avLst>
              <a:gd name="adj" fmla="val 8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37192" y="5166360"/>
            <a:ext cx="2130552" cy="8412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Rejouer immédiatement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DF500"/>
                </a:solidFill>
                <a:latin typeface="Space Grotesk"/>
              </a:rPr>
              <a:t>B3.A2.C2 · CARTOGRAPHIE UX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0" y="6382512"/>
            <a:ext cx="4876495" cy="36576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98A2AD"/>
                </a:solidFill>
                <a:latin typeface="Space Grotesk"/>
              </a:rPr>
              <a:t>SIDE FORCE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1612880" y="6455664"/>
            <a:ext cx="164592" cy="164592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417320" cy="420624"/>
          </a:xfrm>
          <a:prstGeom prst="roundRect">
            <a:avLst>
              <a:gd name="adj" fmla="val 16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417320" cy="42062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B3.A2.C3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44784" y="384048"/>
            <a:ext cx="201168" cy="201168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82528" y="310896"/>
            <a:ext cx="1097280" cy="34747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SIDE 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FFFFFF"/>
                </a:solidFill>
                <a:latin typeface="Space Grotesk"/>
              </a:rPr>
              <a:t>Ergonomie de l'interface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2084832"/>
            <a:ext cx="310896" cy="310896"/>
          </a:xfrm>
          <a:prstGeom prst="ellipse">
            <a:avLst/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84832"/>
            <a:ext cx="310896" cy="31089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029968"/>
            <a:ext cx="278892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DF500"/>
                </a:solidFill>
                <a:latin typeface="Space Grotesk"/>
              </a:rPr>
              <a:t>Loi de Hick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42032"/>
            <a:ext cx="3200400" cy="5486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Réduction du nombre de choix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2880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72000" y="2084832"/>
            <a:ext cx="310896" cy="310896"/>
          </a:xfrm>
          <a:prstGeom prst="ellipse">
            <a:avLst/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084832"/>
            <a:ext cx="310896" cy="31089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1768" y="2029968"/>
            <a:ext cx="278892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DF500"/>
                </a:solidFill>
                <a:latin typeface="Space Grotesk"/>
              </a:rPr>
              <a:t>Loi de Fitts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42032"/>
            <a:ext cx="3200400" cy="5486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Grandes zones interactives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82880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58200" y="2084832"/>
            <a:ext cx="310896" cy="310896"/>
          </a:xfrm>
          <a:prstGeom prst="ellipse">
            <a:avLst/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2084832"/>
            <a:ext cx="310896" cy="31089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7968" y="2029968"/>
            <a:ext cx="278892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DF500"/>
                </a:solidFill>
                <a:latin typeface="Space Grotesk"/>
              </a:rPr>
              <a:t>Gestalt / Miller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542032"/>
            <a:ext cx="3200400" cy="5486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Groupement &amp; hiérarchie visuelle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47472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3730752"/>
            <a:ext cx="310896" cy="310896"/>
          </a:xfrm>
          <a:prstGeom prst="ellipse">
            <a:avLst/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730752"/>
            <a:ext cx="310896" cy="31089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3675887"/>
            <a:ext cx="278892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DF500"/>
                </a:solidFill>
                <a:latin typeface="Space Grotesk"/>
              </a:rPr>
              <a:t>Affordance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187952"/>
            <a:ext cx="3200400" cy="5486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États clairs : hover, focus, actif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347472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72000" y="3730752"/>
            <a:ext cx="310896" cy="310896"/>
          </a:xfrm>
          <a:prstGeom prst="ellipse">
            <a:avLst/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3730752"/>
            <a:ext cx="310896" cy="31089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01768" y="3675887"/>
            <a:ext cx="278892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DF500"/>
                </a:solidFill>
                <a:latin typeface="Space Grotesk"/>
              </a:rPr>
              <a:t>Architecture info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187952"/>
            <a:ext cx="3200400" cy="5486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Parcours simple et cohérent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347472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8200" y="3730752"/>
            <a:ext cx="310896" cy="310896"/>
          </a:xfrm>
          <a:prstGeom prst="ellipse">
            <a:avLst/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8200" y="3730752"/>
            <a:ext cx="310896" cy="31089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87968" y="3675887"/>
            <a:ext cx="278892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DF500"/>
                </a:solidFill>
                <a:latin typeface="Space Grotesk"/>
              </a:rPr>
              <a:t>Accessibilité WCAG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4187952"/>
            <a:ext cx="3200400" cy="5486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Contrastes élevés, lisibilité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806440"/>
            <a:ext cx="731520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1">
                <a:solidFill>
                  <a:srgbClr val="98A2AD"/>
                </a:solidFill>
                <a:latin typeface="Arial"/>
              </a:rPr>
              <a:t>Outil de maquettage : Figma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DF500"/>
                </a:solidFill>
                <a:latin typeface="Space Grotesk"/>
              </a:rPr>
              <a:t>B3.A2.C3 · ERGONOMIE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6382512"/>
            <a:ext cx="4876495" cy="36576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98A2AD"/>
                </a:solidFill>
                <a:latin typeface="Space Grotesk"/>
              </a:rPr>
              <a:t>SIDE FORCE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612880" y="6455664"/>
            <a:ext cx="164592" cy="164592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417320" cy="420624"/>
          </a:xfrm>
          <a:prstGeom prst="roundRect">
            <a:avLst>
              <a:gd name="adj" fmla="val 16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417320" cy="42062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B3.A2.C4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44784" y="384048"/>
            <a:ext cx="201168" cy="201168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82528" y="310896"/>
            <a:ext cx="1097280" cy="34747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SIDE 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FFFFFF"/>
                </a:solidFill>
                <a:latin typeface="Space Grotesk"/>
              </a:rPr>
              <a:t>Cahier des charges fonctionnel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3727" y="1828800"/>
            <a:ext cx="2468880" cy="548640"/>
          </a:xfrm>
          <a:prstGeom prst="roundRect">
            <a:avLst>
              <a:gd name="adj" fmla="val 8000"/>
            </a:avLst>
          </a:prstGeom>
          <a:solidFill>
            <a:srgbClr val="1E232C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3727" y="1828800"/>
            <a:ext cx="24688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CDF500"/>
                </a:solidFill>
                <a:latin typeface="Space Grotesk"/>
              </a:rPr>
              <a:t>FONCTION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9183" y="1828800"/>
            <a:ext cx="2468880" cy="548640"/>
          </a:xfrm>
          <a:prstGeom prst="roundRect">
            <a:avLst>
              <a:gd name="adj" fmla="val 8000"/>
            </a:avLst>
          </a:prstGeom>
          <a:solidFill>
            <a:srgbClr val="1E232C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9183" y="1828800"/>
            <a:ext cx="24688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Space Grotesk"/>
              </a:rPr>
              <a:t>OBJECTIF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4639" y="1828800"/>
            <a:ext cx="2743200" cy="548640"/>
          </a:xfrm>
          <a:prstGeom prst="roundRect">
            <a:avLst>
              <a:gd name="adj" fmla="val 8000"/>
            </a:avLst>
          </a:prstGeom>
          <a:solidFill>
            <a:srgbClr val="1E232C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4639" y="1828800"/>
            <a:ext cx="274320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2BD6F5"/>
                </a:solidFill>
                <a:latin typeface="Space Grotesk"/>
              </a:rPr>
              <a:t>OUTIL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54415" y="1828800"/>
            <a:ext cx="3383280" cy="548640"/>
          </a:xfrm>
          <a:prstGeom prst="roundRect">
            <a:avLst>
              <a:gd name="adj" fmla="val 8000"/>
            </a:avLst>
          </a:prstGeom>
          <a:solidFill>
            <a:srgbClr val="1E232C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4415" y="1828800"/>
            <a:ext cx="33832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179A"/>
                </a:solidFill>
                <a:latin typeface="Space Grotesk"/>
              </a:rPr>
              <a:t>POURQUOI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3727" y="2468880"/>
            <a:ext cx="2468880" cy="713232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455" y="2468880"/>
            <a:ext cx="2286000" cy="7132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CDF500"/>
                </a:solidFill>
                <a:latin typeface="Arial"/>
              </a:rPr>
              <a:t>Wallrun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69183" y="2468880"/>
            <a:ext cx="2468880" cy="713232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78911" y="2468880"/>
            <a:ext cx="2286000" cy="7132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Mobilité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4639" y="2468880"/>
            <a:ext cx="2743200" cy="713232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84367" y="2468880"/>
            <a:ext cx="2560320" cy="7132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Unreal Engine 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54415" y="2468880"/>
            <a:ext cx="3383280" cy="713232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4143" y="2468880"/>
            <a:ext cx="3200400" cy="7132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Gameplay rapide &amp; nerveux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3727" y="3236976"/>
            <a:ext cx="2468880" cy="713232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3455" y="3236976"/>
            <a:ext cx="2286000" cy="7132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CDF500"/>
                </a:solidFill>
                <a:latin typeface="Arial"/>
              </a:rPr>
              <a:t>Slide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69183" y="3236976"/>
            <a:ext cx="2468880" cy="713232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78911" y="3236976"/>
            <a:ext cx="2286000" cy="7132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Fluidité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74639" y="3236976"/>
            <a:ext cx="2743200" cy="713232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84367" y="3236976"/>
            <a:ext cx="2560320" cy="7132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FMOD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54415" y="3236976"/>
            <a:ext cx="3383280" cy="713232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64143" y="3236976"/>
            <a:ext cx="3200400" cy="7132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Audio dynamique / game feel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3727" y="4005072"/>
            <a:ext cx="2468880" cy="713232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3455" y="4005072"/>
            <a:ext cx="2286000" cy="7132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CDF500"/>
                </a:solidFill>
                <a:latin typeface="Arial"/>
              </a:rPr>
              <a:t>Leaderboard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69183" y="4005072"/>
            <a:ext cx="2468880" cy="713232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78911" y="4005072"/>
            <a:ext cx="2286000" cy="7132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Compétition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74639" y="4005072"/>
            <a:ext cx="2743200" cy="713232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84367" y="4005072"/>
            <a:ext cx="2560320" cy="7132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Firebase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54415" y="4005072"/>
            <a:ext cx="3383280" cy="713232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64143" y="4005072"/>
            <a:ext cx="3200400" cy="7132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Rétention &amp; rejouabilité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3727" y="4773168"/>
            <a:ext cx="2468880" cy="713232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3455" y="4773168"/>
            <a:ext cx="2286000" cy="7132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CDF500"/>
                </a:solidFill>
                <a:latin typeface="Arial"/>
              </a:rPr>
              <a:t>Retry instantané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69183" y="4773168"/>
            <a:ext cx="2468880" cy="713232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78911" y="4773168"/>
            <a:ext cx="2286000" cy="7132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Rejouabilité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574639" y="4773168"/>
            <a:ext cx="2743200" cy="713232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84367" y="4773168"/>
            <a:ext cx="2560320" cy="7132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Unreal Engine 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54415" y="4773168"/>
            <a:ext cx="3383280" cy="713232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64143" y="4773168"/>
            <a:ext cx="3200400" cy="7132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Boucle die &amp; retry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3727" y="5541264"/>
            <a:ext cx="2468880" cy="713232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3455" y="5541264"/>
            <a:ext cx="2286000" cy="7132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CDF500"/>
                </a:solidFill>
                <a:latin typeface="Arial"/>
              </a:rPr>
              <a:t>Remapping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069183" y="5541264"/>
            <a:ext cx="2468880" cy="713232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78911" y="5541264"/>
            <a:ext cx="2286000" cy="7132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Accessibilité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574639" y="5541264"/>
            <a:ext cx="2743200" cy="713232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84367" y="5541264"/>
            <a:ext cx="2560320" cy="7132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Slate UI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354415" y="5541264"/>
            <a:ext cx="3383280" cy="713232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64143" y="5541264"/>
            <a:ext cx="3200400" cy="7132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Jouable par tous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DF500"/>
                </a:solidFill>
                <a:latin typeface="Space Grotesk"/>
              </a:rPr>
              <a:t>B3.A2.C4 · CAHIER DES CHARGES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0" y="6382512"/>
            <a:ext cx="4876495" cy="36576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98A2AD"/>
                </a:solidFill>
                <a:latin typeface="Space Grotesk"/>
              </a:rPr>
              <a:t>SIDE FORCE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1612880" y="6455664"/>
            <a:ext cx="164592" cy="164592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417320" cy="420624"/>
          </a:xfrm>
          <a:prstGeom prst="roundRect">
            <a:avLst>
              <a:gd name="adj" fmla="val 16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417320" cy="42062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B3.A3.C2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44784" y="384048"/>
            <a:ext cx="201168" cy="201168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82528" y="310896"/>
            <a:ext cx="1097280" cy="34747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SIDE 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FFFFFF"/>
                </a:solidFill>
                <a:latin typeface="Space Grotesk"/>
              </a:rPr>
              <a:t>Validation UX par playtests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74519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39112"/>
            <a:ext cx="2286000" cy="6400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CDF500"/>
                </a:solidFill>
                <a:latin typeface="Space Grotesk"/>
              </a:rPr>
              <a:t>87 %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715768"/>
            <a:ext cx="224028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contrôles jugés fluides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874519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039112"/>
            <a:ext cx="2286000" cy="6400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CDF500"/>
                </a:solidFill>
                <a:latin typeface="Space Grotesk"/>
              </a:rPr>
              <a:t>83 %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2715768"/>
            <a:ext cx="224028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sensation de vitesse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2900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93592"/>
            <a:ext cx="2286000" cy="6400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CDF500"/>
                </a:solidFill>
                <a:latin typeface="Space Grotesk"/>
              </a:rPr>
              <a:t>75 %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70248"/>
            <a:ext cx="224028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compréhension du niveau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342900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3593592"/>
            <a:ext cx="2286000" cy="6400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CDF500"/>
                </a:solidFill>
                <a:latin typeface="Space Grotesk"/>
              </a:rPr>
              <a:t>88 %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4270248"/>
            <a:ext cx="224028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envie de recommencer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983480"/>
            <a:ext cx="512064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1">
                <a:solidFill>
                  <a:srgbClr val="98A2AD"/>
                </a:solidFill>
                <a:latin typeface="Arial"/>
              </a:rPr>
              <a:t>Protocole : 24 testeurs · Google Forms · observation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1828800"/>
            <a:ext cx="5742432" cy="4114800"/>
          </a:xfrm>
          <a:prstGeom prst="roundRect">
            <a:avLst>
              <a:gd name="adj" fmla="val 5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011680"/>
            <a:ext cx="521208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F179A"/>
                </a:solidFill>
                <a:latin typeface="Space Grotesk"/>
              </a:rPr>
              <a:t>CORRECTIONS APPORTÉES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542032"/>
            <a:ext cx="5257800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Trajectoires peu lisibles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834639"/>
            <a:ext cx="5257800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CDF500"/>
                </a:solidFill>
                <a:latin typeface="Arial"/>
              </a:rPr>
              <a:t>→ Renforcement du code couleur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328415"/>
            <a:ext cx="5257800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Difficulté d'anticipation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621023"/>
            <a:ext cx="5257800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CDF500"/>
                </a:solidFill>
                <a:latin typeface="Arial"/>
              </a:rPr>
              <a:t>→ Ajout de repères visuels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114800"/>
            <a:ext cx="5257800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Perte de vitesse en course murale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407408"/>
            <a:ext cx="5257800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CDF500"/>
                </a:solidFill>
                <a:latin typeface="Arial"/>
              </a:rPr>
              <a:t>→ Ajustement de la physique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901184"/>
            <a:ext cx="5257800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Raccourcis / bug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5193792"/>
            <a:ext cx="5257800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CDF500"/>
                </a:solidFill>
                <a:latin typeface="Arial"/>
              </a:rPr>
              <a:t>→ Vrais chemins alternatifs dans l'UX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DF500"/>
                </a:solidFill>
                <a:latin typeface="Space Grotesk"/>
              </a:rPr>
              <a:t>B3.A3.C2 · TESTS UX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6382512"/>
            <a:ext cx="4876495" cy="36576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98A2AD"/>
                </a:solidFill>
                <a:latin typeface="Space Grotesk"/>
              </a:rPr>
              <a:t>SIDE FORCE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612880" y="6455664"/>
            <a:ext cx="164592" cy="164592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