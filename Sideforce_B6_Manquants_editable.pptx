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Wishlists (k)</c:v>
                </c:pt>
              </c:strCache>
            </c:strRef>
          </c:tx>
          <c:spPr>
            <a:ln w="31750">
              <a:solidFill>
                <a:srgbClr val="00E5C7"/>
              </a:solidFill>
            </a:ln>
          </c:spPr>
          <c:cat>
            <c:strRef>
              <c:f>Sheet1!$A$2:$A$8</c:f>
              <c:strCache>
                <c:ptCount val="7"/>
                <c:pt idx="0">
                  <c:v>M-3</c:v>
                </c:pt>
                <c:pt idx="1">
                  <c:v>M-2</c:v>
                </c:pt>
                <c:pt idx="2">
                  <c:v>M-1</c:v>
                </c:pt>
                <c:pt idx="3">
                  <c:v>Jour J</c:v>
                </c:pt>
                <c:pt idx="4">
                  <c:v>M+1</c:v>
                </c:pt>
                <c:pt idx="5">
                  <c:v>M+2</c:v>
                </c:pt>
                <c:pt idx="6">
                  <c:v>M+3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2</c:v>
                </c:pt>
                <c:pt idx="2">
                  <c:v>5</c:v>
                </c:pt>
                <c:pt idx="3">
                  <c:v>9</c:v>
                </c:pt>
                <c:pt idx="4">
                  <c:v>12</c:v>
                </c:pt>
                <c:pt idx="5">
                  <c:v>14</c:v>
                </c:pt>
                <c:pt idx="6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33D"/>
            </a:solidFill>
          </a:ln>
        </c:spPr>
        <c:txPr>
          <a:bodyPr/>
          <a:lstStyle/>
          <a:p>
            <a:pPr>
              <a:defRPr sz="900">
                <a:solidFill>
                  <a:srgbClr val="E8EDF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33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33D"/>
            </a:solidFill>
          </a:ln>
        </c:spPr>
        <c:txPr>
          <a:bodyPr/>
          <a:lstStyle/>
          <a:p>
            <a:pPr>
              <a:defRPr sz="900">
                <a:solidFill>
                  <a:srgbClr val="E8EDF2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8A97A5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Abonnés (k)</c:v>
                </c:pt>
              </c:strCache>
            </c:strRef>
          </c:tx>
          <c:spPr>
            <a:ln w="31750">
              <a:solidFill>
                <a:srgbClr val="3BA7FF"/>
              </a:solidFill>
            </a:ln>
          </c:spPr>
          <c:cat>
            <c:strRef>
              <c:f>Sheet1!$A$2:$A$8</c:f>
              <c:strCache>
                <c:ptCount val="7"/>
                <c:pt idx="0">
                  <c:v>M-3</c:v>
                </c:pt>
                <c:pt idx="1">
                  <c:v>M-2</c:v>
                </c:pt>
                <c:pt idx="2">
                  <c:v>M-1</c:v>
                </c:pt>
                <c:pt idx="3">
                  <c:v>Jour J</c:v>
                </c:pt>
                <c:pt idx="4">
                  <c:v>M+1</c:v>
                </c:pt>
                <c:pt idx="5">
                  <c:v>M+2</c:v>
                </c:pt>
                <c:pt idx="6">
                  <c:v>M+3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15</c:v>
                </c:pt>
                <c:pt idx="4">
                  <c:v>22</c:v>
                </c:pt>
                <c:pt idx="5">
                  <c:v>28</c:v>
                </c:pt>
                <c:pt idx="6">
                  <c:v>33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33D"/>
            </a:solidFill>
          </a:ln>
        </c:spPr>
        <c:txPr>
          <a:bodyPr/>
          <a:lstStyle/>
          <a:p>
            <a:pPr>
              <a:defRPr sz="900">
                <a:solidFill>
                  <a:srgbClr val="E8EDF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A333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33D"/>
            </a:solidFill>
          </a:ln>
        </c:spPr>
        <c:txPr>
          <a:bodyPr/>
          <a:lstStyle/>
          <a:p>
            <a:pPr>
              <a:defRPr sz="900">
                <a:solidFill>
                  <a:srgbClr val="E8EDF2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8A97A5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Téléch. (k)</c:v>
                </c:pt>
              </c:strCache>
            </c:strRef>
          </c:tx>
          <c:spPr>
            <a:solidFill>
              <a:srgbClr val="00E5C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Pré-lanc.</c:v>
                </c:pt>
                <c:pt idx="1">
                  <c:v>Lancement</c:v>
                </c:pt>
                <c:pt idx="2">
                  <c:v>Post-lanc.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33D"/>
            </a:solidFill>
          </a:ln>
        </c:spPr>
        <c:txPr>
          <a:bodyPr/>
          <a:lstStyle/>
          <a:p>
            <a:pPr>
              <a:defRPr sz="900">
                <a:solidFill>
                  <a:srgbClr val="E8ED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A333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33D"/>
            </a:solidFill>
          </a:ln>
        </c:spPr>
        <c:txPr>
          <a:bodyPr/>
          <a:lstStyle/>
          <a:p>
            <a:pPr>
              <a:defRPr sz="900">
                <a:solidFill>
                  <a:srgbClr val="E8EDF2"/>
                </a:solidFill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8A97A5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Roadmap de campagne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69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A97A5"/>
                </a:solidFill>
                <a:latin typeface="Calibri"/>
              </a:rPr>
              <a:t>Sideforce · campagne sur la durée — phases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00E5C7"/>
                </a:solidFill>
                <a:latin typeface="Calibri"/>
              </a:rPr>
              <a:t>B6.A1.C3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10512"/>
            <a:ext cx="3664457" cy="4189780"/>
          </a:xfrm>
          <a:prstGeom prst="rect">
            <a:avLst/>
          </a:prstGeom>
          <a:solidFill>
            <a:srgbClr val="3BA7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9059" y="144475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3BA7FF"/>
                </a:solidFill>
                <a:latin typeface="Calibri"/>
              </a:rPr>
              <a:t>TEASING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64857" y="1810512"/>
            <a:ext cx="1421892" cy="4189780"/>
          </a:xfrm>
          <a:prstGeom prst="rect">
            <a:avLst/>
          </a:prstGeom>
          <a:solidFill>
            <a:srgbClr val="FF5A3C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2844" y="144475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5A3C"/>
                </a:solidFill>
                <a:latin typeface="Calibri"/>
              </a:rPr>
              <a:t>LANCEMENT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810512"/>
            <a:ext cx="3664457" cy="4189780"/>
          </a:xfrm>
          <a:prstGeom prst="rect">
            <a:avLst/>
          </a:prstGeom>
          <a:solidFill>
            <a:srgbClr val="00E5C7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96628" y="144475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0E5C7"/>
                </a:solidFill>
                <a:latin typeface="Calibri"/>
              </a:rPr>
              <a:t>POST-LANCEMENT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810512"/>
            <a:ext cx="9144" cy="418978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60368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EDF2"/>
                </a:solidFill>
                <a:latin typeface="Calibri"/>
              </a:rPr>
              <a:t>M-3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2020" y="1810512"/>
            <a:ext cx="9144" cy="418978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3380" y="60368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EDF2"/>
                </a:solidFill>
                <a:latin typeface="Calibri"/>
              </a:rPr>
              <a:t>M-2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810512"/>
            <a:ext cx="9144" cy="418978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5272" y="60368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EDF2"/>
                </a:solidFill>
                <a:latin typeface="Calibri"/>
              </a:rPr>
              <a:t>M-1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5804" y="1810512"/>
            <a:ext cx="9144" cy="418978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7164" y="60368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EDF2"/>
                </a:solidFill>
                <a:latin typeface="Calibri"/>
              </a:rPr>
              <a:t>Jour 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810512"/>
            <a:ext cx="9144" cy="418978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60368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EDF2"/>
                </a:solidFill>
                <a:latin typeface="Calibri"/>
              </a:rPr>
              <a:t>M+1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19588" y="1810512"/>
            <a:ext cx="9144" cy="418978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0948" y="60368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EDF2"/>
                </a:solidFill>
                <a:latin typeface="Calibri"/>
              </a:rPr>
              <a:t>M+2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41480" y="1810512"/>
            <a:ext cx="9144" cy="418978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60368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8EDF2"/>
                </a:solidFill>
                <a:latin typeface="Calibri"/>
              </a:rPr>
              <a:t>M+3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1848459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Page Steam + wishlist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1903323"/>
            <a:ext cx="8750807" cy="182880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1885035"/>
            <a:ext cx="875080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E1217"/>
                </a:solidFill>
                <a:latin typeface="Calibri"/>
              </a:rPr>
              <a:t>en continu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143810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Contenu réseaux sociaux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2198674"/>
            <a:ext cx="8750807" cy="182880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180386"/>
            <a:ext cx="875080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E1217"/>
                </a:solidFill>
                <a:latin typeface="Calibri"/>
              </a:rPr>
              <a:t>en continu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439162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Animation Discord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2494026"/>
            <a:ext cx="8750807" cy="182880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2475738"/>
            <a:ext cx="875080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E1217"/>
                </a:solidFill>
                <a:latin typeface="Calibri"/>
              </a:rPr>
              <a:t>en continu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2734513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Devlogs</a:t>
            </a:r>
          </a:p>
        </p:txBody>
      </p:sp>
      <p:sp>
        <p:nvSpPr>
          <p:cNvPr id="35" name="Oval 34"/>
          <p:cNvSpPr/>
          <p:nvPr/>
        </p:nvSpPr>
        <p:spPr>
          <a:xfrm>
            <a:off x="3241548" y="2812237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663440" y="2812237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85331" y="2812237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29116" y="2812237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772900" y="2812237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029864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Teaser trailer</a:t>
            </a:r>
          </a:p>
        </p:txBody>
      </p:sp>
      <p:sp>
        <p:nvSpPr>
          <p:cNvPr id="41" name="Oval 40"/>
          <p:cNvSpPr/>
          <p:nvPr/>
        </p:nvSpPr>
        <p:spPr>
          <a:xfrm>
            <a:off x="4663440" y="3107588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325215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Démo — Steam Next Fest</a:t>
            </a:r>
          </a:p>
        </p:txBody>
      </p:sp>
      <p:sp>
        <p:nvSpPr>
          <p:cNvPr id="43" name="Oval 42"/>
          <p:cNvSpPr/>
          <p:nvPr/>
        </p:nvSpPr>
        <p:spPr>
          <a:xfrm>
            <a:off x="6085331" y="3402939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620566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Outreach streamers / presse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32020" y="3675430"/>
            <a:ext cx="2275027" cy="182880"/>
          </a:xfrm>
          <a:prstGeom prst="roundRect">
            <a:avLst>
              <a:gd name="adj" fmla="val 50000"/>
            </a:avLst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915918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Campagne paid (court format)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3912" y="3970782"/>
            <a:ext cx="3128162" cy="182880"/>
          </a:xfrm>
          <a:prstGeom prst="roundRect">
            <a:avLst>
              <a:gd name="adj" fmla="val 50000"/>
            </a:avLst>
          </a:prstGeom>
          <a:solidFill>
            <a:srgbClr val="FF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211269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Event « The Ascension » + live</a:t>
            </a:r>
          </a:p>
        </p:txBody>
      </p:sp>
      <p:sp>
        <p:nvSpPr>
          <p:cNvPr id="49" name="5-Point Star 48"/>
          <p:cNvSpPr/>
          <p:nvPr/>
        </p:nvSpPr>
        <p:spPr>
          <a:xfrm>
            <a:off x="7456931" y="4238701"/>
            <a:ext cx="237744" cy="237744"/>
          </a:xfrm>
          <a:prstGeom prst="star5">
            <a:avLst/>
          </a:prstGeom>
          <a:solidFill>
            <a:srgbClr val="FF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506620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Launch trailer</a:t>
            </a:r>
          </a:p>
        </p:txBody>
      </p:sp>
      <p:sp>
        <p:nvSpPr>
          <p:cNvPr id="51" name="5-Point Star 50"/>
          <p:cNvSpPr/>
          <p:nvPr/>
        </p:nvSpPr>
        <p:spPr>
          <a:xfrm>
            <a:off x="7456931" y="4534052"/>
            <a:ext cx="237744" cy="237744"/>
          </a:xfrm>
          <a:prstGeom prst="star5">
            <a:avLst/>
          </a:prstGeom>
          <a:solidFill>
            <a:srgbClr val="FF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01971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Boost influenceurs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75804" y="4856835"/>
            <a:ext cx="1990648" cy="182880"/>
          </a:xfrm>
          <a:prstGeom prst="roundRect">
            <a:avLst>
              <a:gd name="adj" fmla="val 50000"/>
            </a:avLst>
          </a:prstGeom>
          <a:solidFill>
            <a:srgbClr val="FF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097322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Updates + niveaux moddés (UGC)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97696" y="5152186"/>
            <a:ext cx="3270351" cy="182880"/>
          </a:xfrm>
          <a:prstGeom prst="roundRect">
            <a:avLst>
              <a:gd name="adj" fmla="val 50000"/>
            </a:avLst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392674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Tournois / challenges</a:t>
            </a:r>
          </a:p>
        </p:txBody>
      </p:sp>
      <p:sp>
        <p:nvSpPr>
          <p:cNvPr id="57" name="Oval 56"/>
          <p:cNvSpPr/>
          <p:nvPr/>
        </p:nvSpPr>
        <p:spPr>
          <a:xfrm>
            <a:off x="7507224" y="5470398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51008" y="5470398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772900" y="5470398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688025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E8EDF2"/>
                </a:solidFill>
                <a:latin typeface="Calibri"/>
              </a:rPr>
              <a:t>Promotions Steam</a:t>
            </a:r>
          </a:p>
        </p:txBody>
      </p:sp>
      <p:sp>
        <p:nvSpPr>
          <p:cNvPr id="61" name="Oval 60"/>
          <p:cNvSpPr/>
          <p:nvPr/>
        </p:nvSpPr>
        <p:spPr>
          <a:xfrm>
            <a:off x="10351008" y="5765749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772900" y="5765749"/>
            <a:ext cx="137160" cy="137160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75804" y="1810512"/>
            <a:ext cx="12000" cy="4189780"/>
          </a:xfrm>
          <a:prstGeom prst="rect">
            <a:avLst/>
          </a:prstGeom>
          <a:solidFill>
            <a:srgbClr val="FF5A3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6439204"/>
            <a:ext cx="274320" cy="118872"/>
          </a:xfrm>
          <a:prstGeom prst="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" y="63843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action en continu</a:t>
            </a:r>
          </a:p>
        </p:txBody>
      </p:sp>
      <p:sp>
        <p:nvSpPr>
          <p:cNvPr id="66" name="Oval 65"/>
          <p:cNvSpPr/>
          <p:nvPr/>
        </p:nvSpPr>
        <p:spPr>
          <a:xfrm>
            <a:off x="3063240" y="6420916"/>
            <a:ext cx="155448" cy="155448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10128" y="63843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action ponctuelle</a:t>
            </a:r>
          </a:p>
        </p:txBody>
      </p:sp>
      <p:sp>
        <p:nvSpPr>
          <p:cNvPr id="68" name="5-Point Star 67"/>
          <p:cNvSpPr/>
          <p:nvPr/>
        </p:nvSpPr>
        <p:spPr>
          <a:xfrm>
            <a:off x="5440680" y="6393484"/>
            <a:ext cx="201168" cy="201168"/>
          </a:xfrm>
          <a:prstGeom prst="star5">
            <a:avLst/>
          </a:prstGeom>
          <a:solidFill>
            <a:srgbClr val="FF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15000" y="63843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pic de lancement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Tableau de bord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6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97A5"/>
                </a:solidFill>
                <a:latin typeface="Calibri"/>
              </a:rPr>
              <a:t>Les KPI suivent le parcours : voir → cliquer → wishlister → acheter → rejouer  ·  valeurs cibles (projection)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00E5C7"/>
                </a:solidFill>
                <a:latin typeface="Calibri"/>
              </a:rPr>
              <a:t>B6.A2.C2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157984" cy="1051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3619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E5C7"/>
                </a:solidFill>
                <a:latin typeface="Calibri"/>
              </a:rPr>
              <a:t>15 000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756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Wishlists Steam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1417320"/>
            <a:ext cx="2157984" cy="1051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153619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BA7FF"/>
                </a:solidFill>
                <a:latin typeface="Calibri"/>
              </a:rPr>
              <a:t>40 000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0756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Téléchargements J+30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8072" y="1417320"/>
            <a:ext cx="2157984" cy="1051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53619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5A3C"/>
                </a:solidFill>
                <a:latin typeface="Calibri"/>
              </a:rPr>
              <a:t>450 k€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20756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CA à J+30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417320"/>
            <a:ext cx="2157984" cy="1051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53619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E5C7"/>
                </a:solidFill>
                <a:latin typeface="Calibri"/>
              </a:rPr>
              <a:t>x4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0756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ROI campagne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93224" y="1417320"/>
            <a:ext cx="2157984" cy="1051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6" y="153619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BA7FF"/>
                </a:solidFill>
                <a:latin typeface="Calibri"/>
              </a:rPr>
              <a:t>12 000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207568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Membres Discord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43200"/>
            <a:ext cx="3703320" cy="278892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2743200"/>
            <a:ext cx="3703320" cy="278892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2743200"/>
            <a:ext cx="3703320" cy="278892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12648" y="3200400"/>
          <a:ext cx="3483863" cy="21488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04088" y="2852928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EDF2"/>
                </a:solidFill>
                <a:latin typeface="Calibri"/>
              </a:rPr>
              <a:t>Wishlists cumulées (k)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498848" y="3200400"/>
          <a:ext cx="3483863" cy="21488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90288" y="2852928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EDF2"/>
                </a:solidFill>
                <a:latin typeface="Calibri"/>
              </a:rPr>
              <a:t>Communauté RS — abonnés (k)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385048" y="3200400"/>
          <a:ext cx="3483863" cy="21488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476488" y="2852928"/>
            <a:ext cx="3337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EDF2"/>
                </a:solidFill>
                <a:latin typeface="Calibri"/>
              </a:rPr>
              <a:t>Téléchargements par phase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Lecture gauche → droite : du général (notoriété) au particulier (conversion).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144768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EDF2"/>
                </a:solidFill>
                <a:latin typeface="Calibri"/>
              </a:rPr>
              <a:t>5 chiffres clés + 3 graphiques</a:t>
            </a:r>
            <a:r>
              <a:rPr sz="1250" b="0">
                <a:solidFill>
                  <a:srgbClr val="8A97A5"/>
                </a:solidFill>
                <a:latin typeface="Calibri"/>
              </a:rPr>
              <a:t>  —  max 10 KPI, alignés sur le plan de communication daté (cours p.26 &amp; p.30).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Mesure &amp;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869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A97A5"/>
                </a:solidFill>
                <a:latin typeface="Calibri"/>
              </a:rPr>
              <a:t>Outils de suivi, fréquence d'optimisation et 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E5C7"/>
                </a:solidFill>
                <a:latin typeface="Calibri"/>
              </a:rPr>
              <a:t>B6.A2.C2 / A3.C1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11880" cy="4480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2880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C7"/>
                </a:solidFill>
                <a:latin typeface="Calibri"/>
              </a:rPr>
              <a:t>Outils de mesure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0"/>
            <a:ext cx="31546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Steam / Steamworks — wishlists, visites, ventes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Google Analytics — trafic du site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Instagram &amp; TikTok Insights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YouTube Studio · Twitch Analytics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Analytics in-game — sessions, runs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Discord Insights — communauté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Suivi SEA / social ads —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600200"/>
            <a:ext cx="3611880" cy="4480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2880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5A3C"/>
                </a:solidFill>
                <a:latin typeface="Calibri"/>
              </a:rPr>
              <a:t>Fréquence d'optimisation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468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5A3C"/>
                </a:solidFill>
                <a:latin typeface="Calibri"/>
              </a:rPr>
              <a:t>Quotidien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779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delivery des campagnes payées, CA, visites Steam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611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5A3C"/>
                </a:solidFill>
                <a:latin typeface="Calibri"/>
              </a:rPr>
              <a:t>Hebdomadaire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922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contenus RS → décisions &amp; test &amp;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754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5A3C"/>
                </a:solidFill>
                <a:latin typeface="Calibri"/>
              </a:rPr>
              <a:t>Mensuel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5065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vision globale, rentabilité &amp; tendance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600200"/>
            <a:ext cx="3611880" cy="4480560"/>
          </a:xfrm>
          <a:prstGeom prst="roundRect">
            <a:avLst>
              <a:gd name="adj" fmla="val 18000"/>
            </a:avLst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82880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3BA7FF"/>
                </a:solidFill>
                <a:latin typeface="Calibri"/>
              </a:rPr>
              <a:t>3 recommandations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468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A7FF"/>
                </a:solidFill>
                <a:latin typeface="Calibri"/>
              </a:rPr>
              <a:t>1.  </a:t>
            </a:r>
            <a:r>
              <a:rPr sz="1400" b="1">
                <a:solidFill>
                  <a:srgbClr val="3BA7FF"/>
                </a:solidFill>
                <a:latin typeface="Calibri"/>
              </a:rPr>
              <a:t>A/B testing créas 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779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tester formats &amp; call-to-action, garder le plus performant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611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A7FF"/>
                </a:solidFill>
                <a:latin typeface="Calibri"/>
              </a:rPr>
              <a:t>2.  </a:t>
            </a:r>
            <a:r>
              <a:rPr sz="1400" b="1">
                <a:solidFill>
                  <a:srgbClr val="3BA7FF"/>
                </a:solidFill>
                <a:latin typeface="Calibri"/>
              </a:rPr>
              <a:t>Page Steam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3922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revoir description, visuels/vidéos, répondre aux commentaires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4754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A7FF"/>
                </a:solidFill>
                <a:latin typeface="Calibri"/>
              </a:rPr>
              <a:t>3.  </a:t>
            </a:r>
            <a:r>
              <a:rPr sz="1400" b="1">
                <a:solidFill>
                  <a:srgbClr val="3BA7FF"/>
                </a:solidFill>
                <a:latin typeface="Calibri"/>
              </a:rPr>
              <a:t>Réallocation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5065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déplacer le budget pub vers le réseau au meilleur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A5"/>
                </a:solidFill>
                <a:latin typeface="Calibri"/>
              </a:rPr>
              <a:t>La fréquence varie selon le type d'optimisation et de reporting (cours p.44).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