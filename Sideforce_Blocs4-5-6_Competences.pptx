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788920"/>
            <a:ext cx="502920" cy="1280160"/>
          </a:xfrm>
          <a:prstGeom prst="roundRect">
            <a:avLst>
              <a:gd name="adj" fmla="val 3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2697480"/>
            <a:ext cx="10058400" cy="9144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BLOC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3611880"/>
            <a:ext cx="10058400" cy="5486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AECEC8"/>
                </a:solidFill>
                <a:latin typeface="Arial"/>
              </a:rPr>
              <a:t>Piloter la production — compléments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73368"/>
            <a:ext cx="11277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FA8A0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Gestion d'un aléa : arbitrage de direction artistique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98448"/>
            <a:ext cx="11274552" cy="868680"/>
          </a:xfrm>
          <a:prstGeom prst="roundRect">
            <a:avLst>
              <a:gd name="adj" fmla="val 8000"/>
            </a:avLst>
          </a:prstGeom>
          <a:solidFill>
            <a:srgbClr val="F6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45368" cy="75895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F7E33"/>
                </a:solidFill>
                <a:latin typeface="Arial"/>
              </a:rPr>
              <a:t>ALÉA RENCONTRÉ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3A"/>
                </a:solidFill>
                <a:latin typeface="Arial"/>
              </a:rPr>
              <a:t>Divergence de direction artistique avec l'équipe Game Art : style des assets non aligné avec l'identité « arcade / minimaliste » définie → incohérence visuelle et risque sur les délais.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3727" y="2377440"/>
          <a:ext cx="11064240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6126480"/>
              </a:tblGrid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Option envisagée</a:t>
                      </a:r>
                    </a:p>
                  </a:txBody>
                  <a:tcPr anchor="ctr" marL="137160" marR="91440" marT="27432" marB="27432">
                    <a:solidFill>
                      <a:srgbClr val="BF7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Impact (qualité · coût · délai)</a:t>
                      </a:r>
                    </a:p>
                  </a:txBody>
                  <a:tcPr anchor="ctr" marL="137160" marR="91440" marT="27432" marB="27432">
                    <a:solidFill>
                      <a:srgbClr val="2E8B5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Laisser l'équipe poursuivre sans cadrage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Qualité/cohérence dégradée · coût faible · délai allongé (retouches)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Tout reprendre en interne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Qualité haute · coût &amp; charge élevés · délai fortement impacté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Arbitrage externe + blockout de référence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Cohérence rétablie · coût modéré · délai maîtrisé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0749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5129783"/>
            <a:ext cx="10945368" cy="8046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57"/>
                </a:solidFill>
                <a:latin typeface="Arial"/>
              </a:rPr>
              <a:t>DÉCISION ARGUMENTÉE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3A"/>
                </a:solidFill>
                <a:latin typeface="Arial"/>
              </a:rPr>
              <a:t>Option 3 : réunion d'arbitrage avec un intervenant externe + fourniture d'un blockout de référence pour cadrer la DA. Résultat : alignement de l'équipe et cohérence visuelle rétablie sans dériver sur les délais.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B4.A2.C3  ·  GESTION DES ALÉAS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Présentation finale du projet — storytelling &amp; valeur ajoutée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98448"/>
            <a:ext cx="55321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" y="1444751"/>
            <a:ext cx="5239512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Storytelling (FR)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93392"/>
            <a:ext cx="5120640" cy="1097280"/>
          </a:xfrm>
          <a:prstGeom prst="rect">
            <a:avLst/>
          </a:prstGeom>
          <a:noFill/>
        </p:spPr>
        <p:txBody>
          <a:bodyPr wrap="square" lIns="109728" rIns="109728" t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1B2A3A"/>
                </a:solidFill>
                <a:latin typeface="Arial"/>
              </a:rPr>
              <a:t>« Inscrit à la compétition SIDEFORCE, défiez le chrono : maîtrisez le mouvement — saut, glissade, course murale — enchaînez les runs et gravez votre nom au leaderboard. Nerveux, accessible, éco-conçu.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298448"/>
            <a:ext cx="55321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45936" y="1444751"/>
            <a:ext cx="5239512" cy="493776"/>
          </a:xfrm>
          <a:prstGeom prst="roundRect">
            <a:avLst>
              <a:gd name="adj" fmla="val 20000"/>
            </a:avLst>
          </a:prstGeom>
          <a:solidFill>
            <a:srgbClr val="2E8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Storytelling (EN)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93392"/>
            <a:ext cx="5120640" cy="1097280"/>
          </a:xfrm>
          <a:prstGeom prst="rect">
            <a:avLst/>
          </a:prstGeom>
          <a:noFill/>
        </p:spPr>
        <p:txBody>
          <a:bodyPr wrap="square" lIns="109728" rIns="109728" t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1B2A3A"/>
                </a:solidFill>
                <a:latin typeface="Arial"/>
              </a:rPr>
              <a:t>« Enter the SIDEFORCE competition and race the clock: master your movement — jump, slide, wallrun — chain perfect runs and climb the leaderboard. Fast, accessible, eco-friendly. 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8571" y="3310128"/>
            <a:ext cx="261289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4875" y="3456432"/>
            <a:ext cx="2320290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Créativité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739" y="4151376"/>
            <a:ext cx="222885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Game feel &amp; game juice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Blocs d'action modulaires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Modding communautaire (niveaux, musiques)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5789" y="3310128"/>
            <a:ext cx="261289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2093" y="3456432"/>
            <a:ext cx="2320290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Accessibilité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6957" y="4151376"/>
            <a:ext cx="222885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Remapping complet, jouable sans son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Coyote time, contrastes RGAA/WCAG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Validé jusqu'au Steam Deck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3310128"/>
            <a:ext cx="261289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9311" y="3456432"/>
            <a:ext cx="2320290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Éthique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4151376"/>
            <a:ext cx="222885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Pas de lootbox ni dark pattern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RGPD : opt-in clair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PEGI 7+, open source respecté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20225" y="3310128"/>
            <a:ext cx="261289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66529" y="3456432"/>
            <a:ext cx="2320290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Commerce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1393" y="4151376"/>
            <a:ext cx="222885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Niche speedrun très engagée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Viralité TikTok / Twitch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Modèle sobre, assets réutilisables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50408"/>
            <a:ext cx="11274552" cy="45720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605272"/>
            <a:ext cx="10945368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8B7F"/>
                </a:solidFill>
                <a:latin typeface="Arial"/>
              </a:rPr>
              <a:t>BUDGET &amp; OBJECTIFS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2A3A"/>
                </a:solidFill>
                <a:latin typeface="Arial"/>
              </a:rPr>
              <a:t>Production sobre tenue dans le budget et les délais · objectifs atteints : prototype jouable, leaderboard fonctionnel, accessibilité intégrée.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B4.A5.C1  ·  PRÉSENTATION FINALE &amp; STORYTELLING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788920"/>
            <a:ext cx="502920" cy="1280160"/>
          </a:xfrm>
          <a:prstGeom prst="roundRect">
            <a:avLst>
              <a:gd name="adj" fmla="val 3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2697480"/>
            <a:ext cx="10058400" cy="9144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BLOC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3611880"/>
            <a:ext cx="10058400" cy="5486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AECEC8"/>
                </a:solidFill>
                <a:latin typeface="Arial"/>
              </a:rPr>
              <a:t>Manager une équipe pluridisciplinaire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73368"/>
            <a:ext cx="11277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FA8A0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Constituer une équipe pluridisciplinaire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Compétences mobilisées + prise en compte du handicap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3727" y="1371600"/>
          <a:ext cx="1106424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Profil / compétence</a:t>
                      </a:r>
                    </a:p>
                  </a:txBody>
                  <a:tcPr anchor="ctr" marL="137160" marR="91440" marT="27432" marB="27432">
                    <a:solidFill>
                      <a:srgbClr val="BF7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Mission sur le projet</a:t>
                      </a:r>
                    </a:p>
                  </a:txBody>
                  <a:tcPr anchor="ctr" marL="137160" marR="91440" marT="27432" marB="27432">
                    <a:solidFill>
                      <a:srgbClr val="2E8B5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Game Designer (Raphaël)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Conception gameplay, level design, UX, coordination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Game Artists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Assets 3D modulaires, direction artistique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Développeur / intégration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Blueprints Unreal, systèmes (leaderboard Firebase)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Sound designer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FMOD, feedback audio &amp; game feel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Intervenants externes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Arbitrage DA, expertise et conseil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5495544"/>
            <a:ext cx="10945368" cy="66751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PRISE EN COMPTE DU HANDICAP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Aménagement du poste : organisation du travail flexible (remote / async via Discord &amp; Miro), vérification de l'accessibilité des outils, adaptation du matériel selon les besoins.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B5.A1.C1  ·  COMPOSITION DE L'ÉQUIPE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Plan de développement des compétences de l'équipe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Lacunes identifiées par la veille → formations ciblées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3727" y="1371600"/>
          <a:ext cx="110642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Compétence à acquérir / renforcer</a:t>
                      </a:r>
                    </a:p>
                  </a:txBody>
                  <a:tcPr anchor="ctr" marL="137160" marR="91440" marT="27432" marB="27432">
                    <a:solidFill>
                      <a:srgbClr val="BF7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Formation proposée</a:t>
                      </a:r>
                    </a:p>
                  </a:txBody>
                  <a:tcPr anchor="ctr" marL="137160" marR="91440" marT="27432" marB="27432">
                    <a:solidFill>
                      <a:srgbClr val="2E8B5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Profiling audio FMOD avancé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Tutoriels ciblés + atelier interne sur le profiler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Optimisation Unreal (baking, instanciation)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Atelier dédié : Lumen vs baked, draw calls, LOD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Accessibilité (WCAG, daltonisme)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Game Accessibility Guidelines + check-list interne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Backend leaderboard (Firebase)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Documentation Firebase + mini-PoC encadré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212080"/>
            <a:ext cx="11274552" cy="86868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5266944"/>
            <a:ext cx="10945368" cy="75895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AA99A"/>
                </a:solidFill>
                <a:latin typeface="Arial"/>
              </a:rPr>
              <a:t>DÉMARCHE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Évaluation des compétences actuelles de l'équipe (maîtrise Unreal/3D acquise) puis identification des compétences à acquérir, repérées via la veille technologique, afin de gagner en productivité sur les nouvelles technologies.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B5.A2.C1  ·  PLAN DE MONTÉE EN COMPÉTENCES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Conseiller l'équipe grâce à l'expertise métier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Préconisations Game Design suivies par l'équipe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71" y="1463040"/>
            <a:ext cx="5500116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4875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Préconisations émises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739" y="2304288"/>
            <a:ext cx="5116068" cy="3063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Blockout de référence pour cadrer level design &amp; DA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Assets modulaires / instanciés (perf + cohérence)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Feedback audio FMOD sur les actions clés (game feel)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Baking des lumières statiques pour la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463040"/>
            <a:ext cx="5500116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9311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Résultats obtenus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4175" y="2304288"/>
            <a:ext cx="5116068" cy="3063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Cohérence visuelle rétablie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Gains de performance mesurés (cf. B4.A4.C1)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Communication facilitée avec l'équipe art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Préconisations mises à profit dans la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B5.A2.C2  ·  CONSEIL &amp; EXPERTISE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Encadrer l'équipe : styles managériaux &amp; résolution de conflit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43887" y="1325880"/>
            <a:ext cx="2651760" cy="566928"/>
          </a:xfrm>
          <a:prstGeom prst="roundRect">
            <a:avLst>
              <a:gd name="adj" fmla="val 3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Participatif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69967" y="1325880"/>
            <a:ext cx="2651760" cy="566928"/>
          </a:xfrm>
          <a:prstGeom prst="roundRect">
            <a:avLst>
              <a:gd name="adj" fmla="val 3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Délégatif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96047" y="1325880"/>
            <a:ext cx="2651760" cy="566928"/>
          </a:xfrm>
          <a:prstGeom prst="roundRect">
            <a:avLst>
              <a:gd name="adj" fmla="val 3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Directif (ponctuel)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5321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" y="2295144"/>
            <a:ext cx="5239512" cy="493776"/>
          </a:xfrm>
          <a:prstGeom prst="roundRect">
            <a:avLst>
              <a:gd name="adj" fmla="val 20000"/>
            </a:avLst>
          </a:prstGeom>
          <a:solidFill>
            <a:srgbClr val="BF7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Conflit rencontré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834640"/>
            <a:ext cx="51206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Contexte : divergence de DA entre le GD et l'équipe art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Tension sur la cohérence visuelle et les délais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Risque : démotivation et retouches en série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2148840"/>
            <a:ext cx="55321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45936" y="2295144"/>
            <a:ext cx="5239512" cy="493776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Résolution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834640"/>
            <a:ext cx="51206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Écoute active des préoccupations de l'équipe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Réunion dédiée + arbitrage externe neutre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Blockout de référence → consensus et alignement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17720"/>
            <a:ext cx="11274552" cy="96012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672583"/>
            <a:ext cx="10945368" cy="8503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ANALYSE CRITIQUE DE MA POSTURE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A3A"/>
                </a:solidFill>
                <a:latin typeface="Arial"/>
              </a:rPr>
              <a:t>Point fort : écoute, leadership et recours à un arbitrage neutre. À améliorer : cadrer la DA plus tôt via un brief visuel formalisé pour prévenir le conflit plutôt que le résoudre.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B5.A3.C1  ·  MANAGEMENT &amp; CONFLIT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Plan de communication du projet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8571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4875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739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Assurer la circulation de l'information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Aligner l'équipe sur les choix techniques/artistiques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Recueillir les feedbacks d'avancement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8195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54499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Parties prenantes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9363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GD, équipe art, dev, sound design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Intervenants externes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Encadrement / jury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7819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04123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Canaux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8987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Discord : échanges quotidiens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Miro : suivi visuel &amp; Gantt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Mail : officiel / externe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Visio : réunions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00600"/>
            <a:ext cx="11274552" cy="96012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855464"/>
            <a:ext cx="10945368" cy="8503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ORGANISATION DES RÉUNIONS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Stand-up hebdomadaire (avancement, 15 min) · réunion de fin de jalon / milestone (bilan &amp; cadrage) · réunions individuelles selon besoin. Modes de communication adaptables aux personnes en situation de handicap.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B5.A3.C2  ·  PLAN DE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Exemple de compte rendu de réunion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Réunion d'arbitrage — direction artistique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43032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822960"/>
          </a:xfrm>
          <a:prstGeom prst="rect">
            <a:avLst/>
          </a:prstGeom>
          <a:noFill/>
        </p:spPr>
        <p:txBody>
          <a:bodyPr wrap="square" lIns="109728" rIns="109728" t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A3A"/>
                </a:solidFill>
                <a:latin typeface="Arial"/>
              </a:rPr>
              <a:t>Nature : réunion d'arbitrage (résolution de conflit) — ponctuelle, déclenchée par l'aléa DA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Durée : ~45 min   ·   Participants : Game Designer (Raphaël), équipe Game Art, intervenant externe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8B7F"/>
                </a:solidFill>
                <a:latin typeface="Arial"/>
              </a:rPr>
              <a:t>Ordre du jour &amp; objectifs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10058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Exposer la divergence de direction artistique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Présenter le blockout de référence et l'identité « arcade / minimaliste »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Décider de la direction visuelle commune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</p:spPr>
        <p:txBody>
          <a:bodyPr wrap="square" lIns="109728" rIns="109728" tIns="54864" bIns="5486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8B57"/>
                </a:solidFill>
                <a:latin typeface="Arial"/>
              </a:rPr>
              <a:t>Décisions prises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526280"/>
            <a:ext cx="10058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B57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Adoption du style arcade/minimaliste cadré par le blockout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B57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Assets concernés à retravailler par l'équipe art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B57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Prochain point de contrôle fixé au jalon suivant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B5.A3.C3  ·  COMPTE RENDU DE RÉUNION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788920"/>
            <a:ext cx="502920" cy="1280160"/>
          </a:xfrm>
          <a:prstGeom prst="roundRect">
            <a:avLst>
              <a:gd name="adj" fmla="val 3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2697480"/>
            <a:ext cx="10058400" cy="9144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BLOC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3611880"/>
            <a:ext cx="10058400" cy="5486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AECEC8"/>
                </a:solidFill>
                <a:latin typeface="Arial"/>
              </a:rPr>
              <a:t>Promouvoir le projet et évaluer son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73368"/>
            <a:ext cx="11277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FA8A0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Stratégie de communication promotionnelle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8571" y="1417320"/>
            <a:ext cx="3575304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4875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Public 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739" y="2258568"/>
            <a:ext cx="3191256" cy="3246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18-35 ans, joueurs PC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Amateurs de speedrun &amp; précision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Consommateurs de contenus courts (TikTok/Twitch)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8195" y="1417320"/>
            <a:ext cx="3575304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54499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Objectifs &amp;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9363" y="2258568"/>
            <a:ext cx="3191256" cy="3246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Visibilité + communauté engagée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Wishlists Steam, viralité des runs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1">
                <a:solidFill>
                  <a:srgbClr val="1B2A3A"/>
                </a:solidFill>
                <a:latin typeface="Arial"/>
              </a:rPr>
              <a:t>Message clé : « Simple à jouer, dur à maîtriser 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7819" y="1417320"/>
            <a:ext cx="3575304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04123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Plan &amp; éléments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8987" y="2258568"/>
            <a:ext cx="3191256" cy="3246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Devlogs, clips de runs, lives Twitch/YouTube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Communauté Discord, page Steam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Trailer, GIFs, captures — charte SIDEFORCE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B6.A1.C1  ·  STRATÉGIE DE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Plan d'actions &amp; événements promotionnels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Synthétique, évolutif, calé sur la période (pré-lancement → lancement → post)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71" y="1463040"/>
            <a:ext cx="55001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4875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739" y="2304288"/>
            <a:ext cx="5116068" cy="21488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Steam Next Fest + démo jouable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Challenges leaderboard communautaires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Lives de speedrun, devlogs réguliers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Campagne TikTok / YouTube Shorts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463040"/>
            <a:ext cx="55001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9311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4175" y="2304288"/>
            <a:ext cx="5116068" cy="21488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Salons indépendants &amp; festivals locaux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Rencontres communautaires / meetups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Démos sur stand (PC + Steam Deck)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11274552" cy="96012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809744"/>
            <a:ext cx="10945368" cy="8503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PLATEFORMES DIGITALES CIBLÉES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Steam, TikTok, YouTube, Twitch, Discord et Reddit (r/speedrun, r/Trackmania, r/gamedev) — choisies selon les pratiques du public cible et activées selon la phase du projet.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B6.A1.C3  ·  ÉVÉNEMENTS PROMOTIONNELS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Évaluation de l'impact écologique — bilan carbone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3474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Outil : JYROS (conforme aux préconisations CNC éco-conception 2023)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71" y="1463040"/>
            <a:ext cx="5500116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4875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Sources d'émission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739" y="2304288"/>
            <a:ext cx="5116068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Énergie des machines de développement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Serveurs (leaderboard)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Distribution &amp; téléchargements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Durée d'utilisation côté joueurs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463040"/>
            <a:ext cx="5500116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9311" y="1609344"/>
            <a:ext cx="5207507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Réduction de l'empreinte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4175" y="2304288"/>
            <a:ext cx="5116068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Assets modulaires &amp; instanciés, baking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Compression audio (Vorbis / FMOD)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Niveaux &lt; 20 Mo, streaming progressif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3AA99A"/>
                </a:solidFill>
                <a:latin typeface="Arial"/>
              </a:rPr>
              <a:t>•  </a:t>
            </a:r>
            <a:r>
              <a:rPr sz="1300" b="0">
                <a:solidFill>
                  <a:srgbClr val="1B2A3A"/>
                </a:solidFill>
                <a:latin typeface="Arial"/>
              </a:rPr>
              <a:t>Serveur minimal (leaderboard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11274552" cy="86868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901183"/>
            <a:ext cx="10945368" cy="75895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57"/>
                </a:solidFill>
                <a:latin typeface="Arial"/>
              </a:rPr>
              <a:t>CHOIX DE L'OUTIL — JYROS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JYROS retenu car adapté à la mesure d'empreinte carbone des projets numériques / jeux vidéo ; il fait apparaître les sources d'émission et l'empreinte de la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B6.A2.C1  ·  BILAN CARBONE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Mesurer la valeur générée par le projet (KPI)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3727" y="1371600"/>
          <a:ext cx="1106424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Indicateur (KPI)</a:t>
                      </a:r>
                    </a:p>
                  </a:txBody>
                  <a:tcPr anchor="ctr" marL="137160" marR="91440" marT="27432" marB="27432">
                    <a:solidFill>
                      <a:srgbClr val="BF7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Justification au regard des objectifs</a:t>
                      </a:r>
                    </a:p>
                  </a:txBody>
                  <a:tcPr anchor="ctr" marL="137160" marR="91440" marT="27432" marB="27432">
                    <a:solidFill>
                      <a:srgbClr val="2E8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Taux de rétention S1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Cœur du modèle leaderboard / rejouabilité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Runs par joueur &amp; temps de session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Mesure l'engagement et le « die &amp; retry »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Taux de complétion des niveaux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Valide la lisibilité et la difficulté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Wishlists / téléchargements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Mesure l'attractivité commerciale</a:t>
                      </a:r>
                    </a:p>
                  </a:txBody>
                  <a:tcPr anchor="ctr" marL="137160" marR="91440" marT="36576" marB="36576"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Engagement communauté (clips, niveaux moddés)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</a:pPr>
                      <a:r>
                        <a:rPr sz="1200" b="0">
                          <a:solidFill>
                            <a:srgbClr val="1B2A3A"/>
                          </a:solidFill>
                          <a:latin typeface="Arial"/>
                        </a:rPr>
                        <a:t>Mesure la viralité et la durée de vie</a:t>
                      </a:r>
                    </a:p>
                  </a:txBody>
                  <a:tcPr anchor="ctr" marL="13716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349240"/>
            <a:ext cx="11274552" cy="841248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5404103"/>
            <a:ext cx="10945368" cy="73152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MÉTHODOLOGIE &amp; ÉCHÉANCES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Données initiales collectées en playtests (Google Forms + analytics in-game), puis suivi des indicateurs après diffusion. Mesures à J+7, J+30 et J+90 — fenêtres où la rétention et l'engagement deviennent significatifs.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B6.A2.C2  ·  MESURE DE LA VALEUR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3A"/>
                </a:solidFill>
                <a:latin typeface="Arial"/>
              </a:rPr>
              <a:t>Recommandation d'amélioration continue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8571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4875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Données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739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Playtests (24 testeurs)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75 % comprennent le niveau immédiatement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Frustration sur la lisibilité de la trajectoire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8195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54499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Recommandation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9363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Renforcer repères visuels / code couleur du parcours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Ajouter un « ghost » de la meilleure run pour guider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Réutilise le système de replay / leaderboard existant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7819" y="1417320"/>
            <a:ext cx="357530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04123" y="1563624"/>
            <a:ext cx="3282696" cy="493776"/>
          </a:xfrm>
          <a:prstGeom prst="roundRect">
            <a:avLst>
              <a:gd name="adj" fmla="val 20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Gain · coût · délai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8987" y="2258568"/>
            <a:ext cx="3191256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1">
                <a:solidFill>
                  <a:srgbClr val="1B2A3A"/>
                </a:solidFill>
                <a:latin typeface="Arial"/>
              </a:rPr>
              <a:t>Gain : lisibilité &amp; rétention accrues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Coût : faible (briques existantes)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AA99A"/>
                </a:solidFill>
                <a:latin typeface="Arial"/>
              </a:rPr>
              <a:t>•  </a:t>
            </a:r>
            <a:r>
              <a:rPr sz="1200" b="0">
                <a:solidFill>
                  <a:srgbClr val="1B2A3A"/>
                </a:solidFill>
                <a:latin typeface="Arial"/>
              </a:rPr>
              <a:t>Délai : court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0060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855464"/>
            <a:ext cx="10945368" cy="80467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57"/>
                </a:solidFill>
                <a:latin typeface="Arial"/>
              </a:rPr>
              <a:t>INTÉGRATION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A3A"/>
                </a:solidFill>
                <a:latin typeface="Arial"/>
              </a:rPr>
              <a:t>Le code couleur et les repères visuels ont déjà été intégrés suite aux playtests (cf. corrections B3/B4). Le « ghost run » est planifié pour la prochaine itération — démarche d'optimisation continue.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73368"/>
            <a:ext cx="73152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B6.A3.C1  ·  RECOMMANDATION D'AMÉLIORATION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373368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