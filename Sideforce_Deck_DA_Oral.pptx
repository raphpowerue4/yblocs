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R&amp;D et montée en compétences sur la pipeline graphique : modélisation et matériaux procéduraux (Substance, trimsheets), végétation (SpeedTree / workflow foliage), optimisation par light baking. Choix assumé : pas d'IA générative et pas de Nanite/Lumen pour rester léger et maîtrisé sur machines modestes.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propositions de direction artistique cohérentes avec la stratégie et les leviers de la veille, en tenant compte du temps, de la faisabilité et des contraintes techniques. Présenter les 3 pistes et justifier celle retenue.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moodboard pose l'image de marque et l'univers visuel : références arcade, performance, vitesse, minimalisme. Il sert de socle à la bible graphique.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bible graphique centralise : contraintes de production, moodboard, processus créatif, traduction des intentions visuelles, stylisation des personnages, méthode, images clés, colorimétrie centrale et normes/réglementations à respecter.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Lookdev de deux assets représentatifs de la DA : présentation du rendu, des matériaux et de la cohérence avec l'identité visuelle.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Caractéristiques techniques des assets : choix des logiciels, poids des fichiers (optimisation), colorimétrie, animation, VFX — dans le respect des normes d'accessibilité (daltonisme) et d'éco-conception.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build : vérification de l'intégration des assets dans le moteur et du rendu en conditions réelles de 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Playtests visuels : retours sur la lisibilité, la cohérence et l'attractivité de la DA auprès de testeurs.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Compétences mobilisées et acquises sur le projet : techniques (Unreal Engine 5, UI Slate, FMOD, Figma) et créatives (game design, level design, UX, game feel).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Méthodes nouvelles intégrées au projet : prototypage itératif sur UE5, système de « blocs d'action » réutilisables pour le level design, esquisse papier avant moteur, playtests pilotés par data via Google Forms, traçabilité par versionning. Jugement critique attendu sur l'apport de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Retour d'expérience critique. Ce qui a fonctionné : le système de blocs d'action pour le level design/UX, le prototypage rapide UE5, des playtests réguliers. Ce que j'améliorerais : lancer les tests d'accessibilité plus tôt, un Google Forms dédié à la partie artistique, documenter plus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brief UX cadre la démarche : objectifs (entrer vite en jeu, comprendre le niveau instantanément, maximiser le flow, favoriser la rejouabilité), méthodologie Lean UX / Design Thinking (ateliers Miro, wireframes Figma, prototype Unreal + playtests), principes ergonomiques, exigences d'accessibilité, et normes applicables : ISO 9241-210, WCAG 2.1, RGAA, RGPD, RGESN, éco-conception.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user personae issus des recherches : Léa, joueuse compétitive (speedrun, game feel, progression) ; Paul, joueur casual (plaisir immédiat, simplicité). Fiches détaillées + carte d'empathie en annexe.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: questionnaire Google Forms (24 répondants), playtests supervisés, observation comportementale, veille (Reddit, Twitch, SteamCharts). Données qui fondent les personae et la carte d'empathie.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Carte d'empathie du persona principal (dit / pense / fait / ressent · besoins · douleurs), construite à partir des données collectées.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Cartographie de l'UX : pour chaque étape, le pain point identifié et la solution UX apportée, jusqu'à l'objectif visé. Tient compte des supports (PC/console, manette) et de l'accessibilité.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Boucle de gameplay et émotions visées : curiosité (découverte) → frustration positive (échec) → engagement (retry) → satisfaction (médaille / niveau suivant). Conçue pour le die &amp; retry.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Ergonomie conçue selon les lois UX : Hick (réduire les choix), Fitts (grandes zones interactives), Gestalt/Miller (groupement et hiérarchie), affordance (états hover/focus/actif), architecture de l'information claire, conformité WCAG (contrastes, lisibilité). Maquettage sous Figma.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Cahier des charges fonctionnel : fonctionnalités clés, objectif, outil retenu et justification. Décrit aussi les flux utilisateur, la hiérarchie visuelle et les exigences d'accessibilité.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Processus de maquettage : du wireframe à la maquette Figma, puis esquisse à partir des blocs d'action, jusqu'au blockout fonctionnel et au prototype interactif sous Unreal. Teste graphisme ET ergonomie. (Captures du blockout à insérer.)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Protocole : 24 testeurs, Google Forms, observation. Résultats positifs sur la fluidité, la vitesse, la compréhension et l'envie de recommencer. Corrections menées : code couleur renforcé, repères visuels, ajustement de la physique de course murale, vrais chemins alternatifs.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system Sideforce : typographie, palette de couleurs et règles, iconographie, composants UI (boutons, scores, cartes de niveau), grilles et image de marque — centralisé in-engine pour la cohérence.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Planification : méthodologie agile, jalons et tâches réparties, durée et échéances, ressources (moteur, logiciels), points de vigilance. (Diagramme de Gantt à insérer.)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Supervision des éléments produits : blockout fonctionnel réalisé sur Unreal Engine, conforme aux référentiels de conception et aux délais des jalons. (Capture du blockout à insérer.)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Outil de suivi : GitHub (issues, versionning) et Miro avec Gantt à jour. Indicateurs qualitatifs/quantitatifs par jalon, reportings et comptes rendus pour anticiper les aléas.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Aléa : divergence de direction artistique avec l'équipe art. Options évaluées (qualité/coût/délai), décision : arbitrage externe + blockout de référence. Résultat : cohérence rétablie sans dériver sur les délais.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Protocole de tests techniques : Unreal stat fps/stat unit, GPU dump, FMOD profiler, multi-écrans (PC, Steam Deck). Tests menés par l'équipe sous supervision. Résultats : 60 FPS stable, draw calls et primitives fortement réduits, conformité accessibilité (jouable sans son / sans screen shake).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de correction : surcharge GPU + dépendance au GI temps réel (Lumen à 48 FPS). Correction = optimisation des mesh (decimate/retopo, équipe art) + baking des lumières statiques (Raphaël). Résultat : 60 FPS stable. (Captures avant/après stat unit à insérer.)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finale au client avec storytelling (FR/EN). Valeur ajoutée : créativité (game feel, modding), accessibilité (remapping, sans son, Steam Deck), éthique (pas de dark pattern, RGPD, PEGI 7+), commerce (niche speedrun, viralité). Budget et délais respectés, objectifs atteints.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02920" cy="1371600"/>
          </a:xfrm>
          <a:prstGeom prst="roundRect">
            <a:avLst>
              <a:gd name="adj" fmla="val 10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7800" b="1" i="0">
                <a:solidFill>
                  <a:srgbClr val="CDF500"/>
                </a:solidFill>
                <a:latin typeface="Space Grotesk"/>
              </a:rPr>
              <a:t>BLOC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566160"/>
            <a:ext cx="987552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FFFFFF"/>
                </a:solidFill>
                <a:latin typeface="Space Grotesk"/>
              </a:rPr>
              <a:t>Concevoir et développer la direction artistique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2920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DA · GRAPHISME DIGITAL · 3D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BLOC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Nouvelles connaissances &amp; compétences (R&amp;D)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Unreal Engine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35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Substance Designer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239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Workflow Foliage / SpeedTree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Trimsheet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48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35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Light baking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39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Pas d'IA · Pas de Nanite/Lumen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B2.A1.C1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B2.A1.C2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La DA appliquée aux assets — 3 propositions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011680"/>
            <a:ext cx="3108960" cy="3291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647" y="33832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⬛  Visuel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2011680"/>
            <a:ext cx="3108960" cy="3291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33832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⬛  Visuel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087" y="2011680"/>
            <a:ext cx="3108960" cy="3291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6087" y="33832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⬛  Visuel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3 propositions cohérentes · stratégie · faisabilité · contraintes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B2.A1.C2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B2.A2.C1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Moodboard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ARCADE · PERFORMANCE · VITESSE · MINIMALISME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B2.A2.C1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B2.A2.C2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Bible graphique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Contraintes techniques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35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Process créatif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239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Stylisation perso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Color central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48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35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Images clés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39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179A"/>
                </a:solidFill>
                <a:latin typeface="Arial"/>
              </a:rPr>
              <a:t>Normes &amp; accessibilité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B2.A2.C2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B2.A2.C3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Lookdevs de 2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011680"/>
            <a:ext cx="4846320" cy="3291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647" y="3383280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⬛  Visuel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011680"/>
            <a:ext cx="4846320" cy="329184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3383280"/>
            <a:ext cx="48463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⬛  Visuel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Cohérence DA · matériaux · rendu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B2.A2.C3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B2.A2.C4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Caractéristiques techniques des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Logiciels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35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Poids (Ko/Mo)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239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Colorimétrie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Animation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48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35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Effets spéciaux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39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Daltonisme · écodesign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B2.A2.C4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B2.A3.C1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Test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Intégration moteur · rendu en 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B2.A3.C1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B2.A4.C1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Playtests visuels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Lisibilité · cohérence · attractivité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B2.A4.C1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02920" cy="1371600"/>
          </a:xfrm>
          <a:prstGeom prst="roundRect">
            <a:avLst>
              <a:gd name="adj" fmla="val 10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7800" b="1" i="0">
                <a:solidFill>
                  <a:srgbClr val="CDF500"/>
                </a:solidFill>
                <a:latin typeface="Space Grotesk"/>
              </a:rPr>
              <a:t>BLOC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566160"/>
            <a:ext cx="987552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FFFFFF"/>
                </a:solidFill>
                <a:latin typeface="Space Grotesk"/>
              </a:rPr>
              <a:t>Concevoir et développer une expérience utilisateur digitale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2920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UX · LEVEL DESIGN · GAME FEEL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BLOC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Compétences acquises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DF500"/>
                </a:solidFill>
                <a:latin typeface="Space Grotesk"/>
              </a:rPr>
              <a:t>TECHNIQUES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Unreal Engine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Slate — Unreal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FMOD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92624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73752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Figma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179A"/>
                </a:solidFill>
                <a:latin typeface="Space Grotesk"/>
              </a:rPr>
              <a:t>CRÉATIVES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Game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Level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UX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4992624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873752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Game feel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Nouvelles méthodes intégrées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Prototypage itératif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35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Blocs d'action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926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2391" y="2926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Esquisse papier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396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883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Google 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69080"/>
            <a:ext cx="3474720" cy="86868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7871" y="4069080"/>
            <a:ext cx="3364992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Versionning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Analyse critique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DF500"/>
                </a:solidFill>
                <a:latin typeface="Space Grotesk"/>
              </a:rPr>
              <a:t>CE QUI A FONCTIONNÉ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Blocs d'action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Prototypage UE5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Playtests réguliers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179A"/>
                </a:solidFill>
                <a:latin typeface="Space Grotesk"/>
              </a:rPr>
              <a:t>À AMÉLIORER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Tests accessibilité + tôt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Forms artistique dédié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Documentation + précoce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B3.A1.C2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Brief UX — Sideforce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103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DF500"/>
                </a:solidFill>
                <a:latin typeface="Space Grotesk"/>
              </a:rPr>
              <a:t>OBJECTIF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74519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874519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Entrer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1874519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874519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Comprendre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6056" y="1874519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6" y="1874519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0344" y="1874519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0344" y="1874519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Rejouabilité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24328"/>
            <a:ext cx="2103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pace Grotesk"/>
              </a:rPr>
              <a:t>MÉTHODO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624328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624328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Lean 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1768" y="2624328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624328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Ateliers Miro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6056" y="2624328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2624328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Wireframes Figma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0344" y="2624328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4" y="2624328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Proto Unreal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74136"/>
            <a:ext cx="2103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pace Grotesk"/>
              </a:rPr>
              <a:t>ERGONOMIE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374136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374136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Contraste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1768" y="3374136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3374136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6056" y="3374136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6056" y="3374136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Clavier/manette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0344" y="3374136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374136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Hiérarchie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23944"/>
            <a:ext cx="2103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pace Grotesk"/>
              </a:rPr>
              <a:t>ACCESSIBILITÉ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4123944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80" y="4123944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01768" y="4123944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1768" y="4123944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Sans 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6056" y="4123944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6056" y="4123944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Contrôleurs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10344" y="4123944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10344" y="4123944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Difficultés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873752"/>
            <a:ext cx="2103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179A"/>
                </a:solidFill>
                <a:latin typeface="Space Grotesk"/>
              </a:rPr>
              <a:t>NORMES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4873752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4873752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179A"/>
                </a:solidFill>
                <a:latin typeface="Arial"/>
              </a:rPr>
              <a:t>ISO 9241-210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01768" y="4873752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1768" y="4873752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179A"/>
                </a:solidFill>
                <a:latin typeface="Arial"/>
              </a:rPr>
              <a:t>WCAG 2.1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06056" y="4873752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06056" y="4873752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179A"/>
                </a:solidFill>
                <a:latin typeface="Arial"/>
              </a:rPr>
              <a:t>RGAA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10344" y="4873752"/>
            <a:ext cx="2194560" cy="603504"/>
          </a:xfrm>
          <a:prstGeom prst="roundRect">
            <a:avLst>
              <a:gd name="adj" fmla="val 16000"/>
            </a:avLst>
          </a:prstGeom>
          <a:solidFill>
            <a:srgbClr val="171B22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10344" y="4873752"/>
            <a:ext cx="219456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179A"/>
                </a:solidFill>
                <a:latin typeface="Arial"/>
              </a:rPr>
              <a:t>RGPD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B3.A1.C2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DF500"/>
                </a:solidFill>
                <a:latin typeface="Space Grotesk"/>
              </a:rPr>
              <a:t>LÉA — compétitive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22 ans · joueuse 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Fluidité &amp;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Twitch / TikTok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828800"/>
            <a:ext cx="5532120" cy="402336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574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179A"/>
                </a:solidFill>
                <a:latin typeface="Space Grotesk"/>
              </a:rPr>
              <a:t>PAUL — casual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852927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734056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36 ans · PC/console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566160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Plaisir immédiat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4279392"/>
            <a:ext cx="128016" cy="128016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160520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Sessions courtes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Recherche utilisateur —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répondants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08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408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87 %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contrôles fluides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83 %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joueurs réguliers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336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336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79 %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052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citent Trackmania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Carte d'empathie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Dit · Pense · Fait · Ressent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Parcours utilisateur — cartographie 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439" y="192024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439" y="1920240"/>
            <a:ext cx="21762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DF500"/>
                </a:solidFill>
                <a:latin typeface="Space Grotesk"/>
              </a:rPr>
              <a:t>ÉTAT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6575" y="192024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6575" y="1920240"/>
            <a:ext cx="21762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pace Grotesk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711" y="192024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7711" y="1920240"/>
            <a:ext cx="21762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179A"/>
                </a:solidFill>
                <a:latin typeface="Space Grotesk"/>
              </a:rPr>
              <a:t>PAIN 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8847" y="192024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47" y="1920240"/>
            <a:ext cx="21762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DF500"/>
                </a:solidFill>
                <a:latin typeface="Space Grotesk"/>
              </a:rPr>
              <a:t>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9983" y="1920240"/>
            <a:ext cx="2176272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9983" y="1920240"/>
            <a:ext cx="217627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D6F5"/>
                </a:solidFill>
                <a:latin typeface="Space Grotesk"/>
              </a:rPr>
              <a:t>OBJECTIF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5439" y="2578608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447" y="2578608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Je 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6575" y="2578608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40583" y="2578608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Sélection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7711" y="2578608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1719" y="2578608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179A"/>
                </a:solidFill>
                <a:latin typeface="Arial"/>
              </a:rPr>
              <a:t>Trop d'étapes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8847" y="2578608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2855" y="2578608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Menu simplifié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9983" y="2578608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3991" y="2578608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Jouer vite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439" y="3520440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447" y="3520440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Je découvre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76575" y="3520440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0583" y="3520440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Observer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7711" y="3520440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1719" y="3520440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179A"/>
                </a:solidFill>
                <a:latin typeface="Arial"/>
              </a:rPr>
              <a:t>Trajet illisible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38847" y="3520440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02855" y="3520440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Code couleur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9983" y="3520440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3991" y="3520440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Comprendre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5439" y="4462272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" y="4462272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J'améliore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76575" y="4462272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40583" y="4462272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Comparer temps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07711" y="4462272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1719" y="4462272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179A"/>
                </a:solidFill>
                <a:latin typeface="Arial"/>
              </a:rPr>
              <a:t>Pas de progrès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38847" y="4462272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2855" y="4462272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Leaderboard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9983" y="4462272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33991" y="4462272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Progression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5439" y="5404104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447" y="5404104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J'échoue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76575" y="5404104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40583" y="5404104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Résultat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07711" y="5404104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2A1320"/>
          </a:solidFill>
          <a:ln w="1270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1719" y="5404104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179A"/>
                </a:solidFill>
                <a:latin typeface="Arial"/>
              </a:rPr>
              <a:t>Frustration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8847" y="5404104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02855" y="5404104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Retry instantané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69983" y="5404104"/>
            <a:ext cx="2176272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3991" y="5404104"/>
            <a:ext cx="2048255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Rejouer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Boucle de gameplay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15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Découverte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402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122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437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Échec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24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046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766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081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Médaille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1">
                <a:solidFill>
                  <a:srgbClr val="98A2AD"/>
                </a:solidFill>
                <a:latin typeface="Arial"/>
              </a:rPr>
              <a:t>Curiosité → Frustration positive → Engagement →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Ergonomie de l'interface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103120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8483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Loi de Hick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7860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Moins de choix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103120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08483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Loi de Fitts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57860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Grandes zones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2103120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10312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08483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Gestalt / Miller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57860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Groupement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749039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49039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73075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Affordance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22452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États clairs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3749039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749039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73075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Architecture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422452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Parcours simple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474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8200" y="3749039"/>
            <a:ext cx="310896" cy="310896"/>
          </a:xfrm>
          <a:prstGeom prst="ellipse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749039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3730752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Space Grotesk"/>
              </a:rPr>
              <a:t>WCAG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224528"/>
            <a:ext cx="2788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Contrastes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6072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98A2AD"/>
                </a:solidFill>
                <a:latin typeface="Arial"/>
              </a:rPr>
              <a:t>Outil : Figma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B3.A2.C4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Cahier des charges fonctionnel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439" y="1920240"/>
            <a:ext cx="2734056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439" y="1920240"/>
            <a:ext cx="27340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DF500"/>
                </a:solidFill>
                <a:latin typeface="Space Grotesk"/>
              </a:rPr>
              <a:t>FONCTION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4359" y="1920240"/>
            <a:ext cx="2734056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4359" y="1920240"/>
            <a:ext cx="27340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Space Grotesk"/>
              </a:rPr>
              <a:t>OBJECTIF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3279" y="1920240"/>
            <a:ext cx="2734056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3279" y="1920240"/>
            <a:ext cx="27340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D6F5"/>
                </a:solidFill>
                <a:latin typeface="Space Grotesk"/>
              </a:rPr>
              <a:t>OUTIL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2199" y="1920240"/>
            <a:ext cx="2734056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2199" y="1920240"/>
            <a:ext cx="27340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179A"/>
                </a:solidFill>
                <a:latin typeface="Space Grotesk"/>
              </a:rPr>
              <a:t>POURQUOI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439" y="2578608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" y="2578608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Wallrun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4359" y="2578608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8367" y="2578608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Mobilité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3279" y="2578608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578608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Unreal Engine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2199" y="2578608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6207" y="2578608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Gameplay nerveux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439" y="3520440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447" y="3520440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Slide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4359" y="3520440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8367" y="3520440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Fluidité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3279" y="3520440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7287" y="3520440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2199" y="3520440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6207" y="3520440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Game feel audio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5439" y="4462272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447" y="4462272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Leaderboard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4359" y="4462272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8367" y="4462272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Compétition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3279" y="4462272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7287" y="4462272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Firebase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2199" y="4462272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6207" y="4462272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Rejouabilité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5439" y="5404104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447" y="5404104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DF500"/>
                </a:solidFill>
                <a:latin typeface="Arial"/>
              </a:rPr>
              <a:t>Remapping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4359" y="5404104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8367" y="5404104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Accessibilité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3279" y="5404104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7287" y="5404104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Slate UI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2199" y="5404104"/>
            <a:ext cx="2734056" cy="868680"/>
          </a:xfrm>
          <a:prstGeom prst="roundRect">
            <a:avLst>
              <a:gd name="adj" fmla="val 7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6207" y="5404104"/>
            <a:ext cx="260603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Jouable par tous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B3.A2.C4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B3.A3.C1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Processus de maquettage 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15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Wireframe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402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DF500"/>
                </a:solidFill>
                <a:latin typeface="Space Grotes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122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437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Maquette Figma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24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DF500"/>
                </a:solidFill>
                <a:latin typeface="Space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Esquisse / blocs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046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DF500"/>
                </a:solidFill>
                <a:latin typeface="Space Grotes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766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081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Blockout Unreal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1">
                <a:solidFill>
                  <a:srgbClr val="98A2AD"/>
                </a:solidFill>
                <a:latin typeface="Arial"/>
              </a:rPr>
              <a:t>Wireframe → Figma → Blocs d'action → Prototype Unreal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B3.A3.C1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B3.A3.C2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Validation UX par playtests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2"/>
            <a:ext cx="2606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 i="0">
                <a:solidFill>
                  <a:srgbClr val="CDF500"/>
                </a:solidFill>
                <a:latin typeface="Space Grotesk"/>
              </a:rPr>
              <a:t>87 %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contrôles fluides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202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084832"/>
            <a:ext cx="2606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 i="0">
                <a:solidFill>
                  <a:srgbClr val="CDF500"/>
                </a:solidFill>
                <a:latin typeface="Space Grotesk"/>
              </a:rPr>
              <a:t>83 %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16352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sensation de vitesse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85032"/>
            <a:ext cx="2606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 i="0">
                <a:solidFill>
                  <a:srgbClr val="CDF500"/>
                </a:solidFill>
                <a:latin typeface="Space Grotesk"/>
              </a:rPr>
              <a:t>75 %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16552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compréhension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5204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685032"/>
            <a:ext cx="2606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 i="0">
                <a:solidFill>
                  <a:srgbClr val="CDF500"/>
                </a:solidFill>
                <a:latin typeface="Space Grotesk"/>
              </a:rPr>
              <a:t>88 %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416552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envie de rejouer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920240"/>
            <a:ext cx="5742432" cy="3931920"/>
          </a:xfrm>
          <a:prstGeom prst="roundRect">
            <a:avLst>
              <a:gd name="adj" fmla="val 5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179A"/>
                </a:solidFill>
                <a:latin typeface="Space Grotesk"/>
              </a:rPr>
              <a:t>CORRECTIONS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Trajectoires peu lisibles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71800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DF500"/>
                </a:solidFill>
                <a:latin typeface="Arial"/>
              </a:rPr>
              <a:t>→ Code couleur renforcé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47288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Anticipation difficile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21608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DF500"/>
                </a:solidFill>
                <a:latin typeface="Arial"/>
              </a:rPr>
              <a:t>→ Repères visuels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97096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Course murale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471416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DF500"/>
                </a:solidFill>
                <a:latin typeface="Arial"/>
              </a:rPr>
              <a:t>→ Physique ajustée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946904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Raccourcis / 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221224"/>
            <a:ext cx="5257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DF500"/>
                </a:solidFill>
                <a:latin typeface="Arial"/>
              </a:rPr>
              <a:t>→ Chemins alternatifs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B3.A3.C2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B3.A4.C1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Typo · Palette · Composants · Grilles · Image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B3.A4.C1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502920" cy="1371600"/>
          </a:xfrm>
          <a:prstGeom prst="roundRect">
            <a:avLst>
              <a:gd name="adj" fmla="val 10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7800" b="1" i="0">
                <a:solidFill>
                  <a:srgbClr val="CDF500"/>
                </a:solidFill>
                <a:latin typeface="Space Grotesk"/>
              </a:rPr>
              <a:t>BLOC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566160"/>
            <a:ext cx="987552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FFFFFF"/>
                </a:solidFill>
                <a:latin typeface="Space Grotesk"/>
              </a:rPr>
              <a:t>Piloter la production d'un projet en création digitale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502920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98A2AD"/>
                </a:solidFill>
                <a:latin typeface="Space Grotesk"/>
              </a:rPr>
              <a:t>PLANNING · SUIVI · QUALITÉ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BLOC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B4.A1.C1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Rétroplanning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Agile · jalons · tâches · ressources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B4.A1.C1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B4.A2.C1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Supervision de la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31352" cy="3657600"/>
          </a:xfrm>
          <a:prstGeom prst="roundRect">
            <a:avLst>
              <a:gd name="adj" fmla="val 4000"/>
            </a:avLst>
          </a:prstGeom>
          <a:solidFill>
            <a:srgbClr val="171B22"/>
          </a:solidFill>
          <a:ln w="19050">
            <a:solidFill>
              <a:srgbClr val="CDF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98A2AD"/>
                </a:solidFill>
                <a:latin typeface="Space Grotesk"/>
              </a:rPr>
              <a:t>⬛  Visuel / capture à insérer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DF500"/>
                </a:solidFill>
                <a:latin typeface="Space Grotesk"/>
              </a:rPr>
              <a:t>Blockout conforme · jalons tenus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B4.A2.C1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B4.A2.C2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Suivi de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880360"/>
            <a:ext cx="5349240" cy="91440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2880360"/>
            <a:ext cx="5239512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GitHub (versionning)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880360"/>
            <a:ext cx="5349240" cy="91440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7871" y="2880360"/>
            <a:ext cx="5239512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Miro + Gantt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447" y="4069080"/>
            <a:ext cx="5349240" cy="91440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311" y="4069080"/>
            <a:ext cx="5239512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Indicateurs par jalon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069080"/>
            <a:ext cx="5349240" cy="91440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2B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7871" y="4069080"/>
            <a:ext cx="5239512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D6F5"/>
                </a:solidFill>
                <a:latin typeface="Arial"/>
              </a:rPr>
              <a:t>Reportings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B4.A2.C2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B4.A2.C3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Gestion d'un aléa — arbitrage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15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Aléa : DA divergente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402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122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437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Options évaluées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24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Arbitrage externe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0467" y="2834640"/>
            <a:ext cx="45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FF179A"/>
                </a:solidFill>
                <a:latin typeface="Space Grotes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7667" y="2834640"/>
            <a:ext cx="2446020" cy="1188720"/>
          </a:xfrm>
          <a:prstGeom prst="roundRect">
            <a:avLst>
              <a:gd name="adj" fmla="val 10000"/>
            </a:avLst>
          </a:prstGeom>
          <a:solidFill>
            <a:srgbClr val="171B22"/>
          </a:solidFill>
          <a:ln w="19050">
            <a:solidFill>
              <a:srgbClr val="FF1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0819" y="2834640"/>
            <a:ext cx="2299715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Alignement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1">
                <a:solidFill>
                  <a:srgbClr val="98A2AD"/>
                </a:solidFill>
                <a:latin typeface="Arial"/>
              </a:rPr>
              <a:t>Problème → Options (qualité/coût/délai) → Décision → Résolution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B4.A2.C3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B4.A3.C1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Tests techniques &amp;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60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08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408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−61 %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draw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−86 %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primitives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3367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3367" y="2423160"/>
            <a:ext cx="2468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&lt; 20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0527" y="3337560"/>
            <a:ext cx="21945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par niveau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B4.A3.C1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B4.A4.C1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Correction — optimisation &amp; baking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194560"/>
            <a:ext cx="3413759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2423160"/>
            <a:ext cx="341375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48 →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3337560"/>
            <a:ext cx="3139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FPS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8967" y="2194560"/>
            <a:ext cx="3413759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8967" y="2423160"/>
            <a:ext cx="341375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1120 → 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127" y="3337560"/>
            <a:ext cx="3139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draw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487" y="2194560"/>
            <a:ext cx="3413759" cy="1828800"/>
          </a:xfrm>
          <a:prstGeom prst="roundRect">
            <a:avLst>
              <a:gd name="adj" fmla="val 6000"/>
            </a:avLst>
          </a:prstGeom>
          <a:solidFill>
            <a:srgbClr val="171B22"/>
          </a:solidFill>
          <a:ln w="12700">
            <a:solidFill>
              <a:srgbClr val="2E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487" y="2423160"/>
            <a:ext cx="341375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CDF500"/>
                </a:solidFill>
                <a:latin typeface="Space Grotesk"/>
              </a:rPr>
              <a:t>6,5M → 881K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647" y="3337560"/>
            <a:ext cx="3139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primitives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B4.A4.C1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554480" cy="420624"/>
          </a:xfrm>
          <a:prstGeom prst="roundRect">
            <a:avLst>
              <a:gd name="adj" fmla="val 16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55448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0F14"/>
                </a:solidFill>
                <a:latin typeface="Space Grotesk"/>
              </a:rPr>
              <a:t>B4.A5.C1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44784" y="384048"/>
            <a:ext cx="201168" cy="201168"/>
          </a:xfrm>
          <a:prstGeom prst="roundRect">
            <a:avLst>
              <a:gd name="adj" fmla="val 2000"/>
            </a:avLst>
          </a:prstGeom>
          <a:solidFill>
            <a:srgbClr val="CDF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82528" y="310896"/>
            <a:ext cx="1097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SIDE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Space Grotesk"/>
              </a:rPr>
              <a:t>Présentation finale — valeur ajoutée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3429000"/>
            <a:ext cx="2537460" cy="100584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311" y="3429000"/>
            <a:ext cx="2427732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Créativité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3429000"/>
            <a:ext cx="2537460" cy="100584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6091" y="3429000"/>
            <a:ext cx="2427732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Accessibilité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429000"/>
            <a:ext cx="2537460" cy="100584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7871" y="3429000"/>
            <a:ext cx="2427732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Éthique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4787" y="3429000"/>
            <a:ext cx="2537460" cy="1005840"/>
          </a:xfrm>
          <a:prstGeom prst="roundRect">
            <a:avLst>
              <a:gd name="adj" fmla="val 20000"/>
            </a:avLst>
          </a:prstGeom>
          <a:solidFill>
            <a:srgbClr val="171B22"/>
          </a:solidFill>
          <a:ln w="19050">
            <a:solidFill>
              <a:srgbClr val="CDF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9651" y="3429000"/>
            <a:ext cx="2427732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DF500"/>
                </a:solidFill>
                <a:latin typeface="Arial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825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DF500"/>
                </a:solidFill>
                <a:latin typeface="Space Grotesk"/>
              </a:rPr>
              <a:t>B4.A5.C1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382512"/>
            <a:ext cx="487649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98A2AD"/>
                </a:solidFill>
                <a:latin typeface="Space Grotesk"/>
              </a:rPr>
              <a:t>SIDE FORCE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12880" y="6455664"/>
            <a:ext cx="164592" cy="164592"/>
          </a:xfrm>
          <a:prstGeom prst="roundRect">
            <a:avLst>
              <a:gd name="adj" fmla="val 2000"/>
            </a:avLst>
          </a:prstGeom>
          <a:solidFill>
            <a:srgbClr val="FF1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