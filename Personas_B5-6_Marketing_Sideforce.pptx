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502920" y="-502920"/>
            <a:ext cx="1554480" cy="1554480"/>
          </a:xfrm>
          <a:prstGeom prst="rtTriangle">
            <a:avLst/>
          </a:prstGeom>
          <a:solidFill>
            <a:srgbClr val="35D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10800000">
            <a:off x="11155680" y="5486400"/>
            <a:ext cx="1554480" cy="1554480"/>
          </a:xfrm>
          <a:prstGeom prst="rtTriangle">
            <a:avLst/>
          </a:prstGeom>
          <a:solidFill>
            <a:srgbClr val="9BE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548640"/>
            <a:ext cx="2743200" cy="5760720"/>
          </a:xfrm>
          <a:prstGeom prst="roundRect">
            <a:avLst>
              <a:gd name="adj" fmla="val 4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89888" y="1783080"/>
            <a:ext cx="822960" cy="822960"/>
          </a:xfrm>
          <a:prstGeom prst="ellipse">
            <a:avLst/>
          </a:prstGeom>
          <a:solidFill>
            <a:srgbClr val="C3C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788920"/>
            <a:ext cx="1783080" cy="1920240"/>
          </a:xfrm>
          <a:prstGeom prst="roundRect">
            <a:avLst>
              <a:gd name="adj" fmla="val 50000"/>
            </a:avLst>
          </a:prstGeom>
          <a:solidFill>
            <a:srgbClr val="C3C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852160"/>
            <a:ext cx="2560320" cy="365760"/>
          </a:xfrm>
          <a:prstGeom prst="rect">
            <a:avLst/>
          </a:prstGeom>
          <a:noFill/>
        </p:spPr>
        <p:txBody>
          <a:bodyPr wrap="square" lIns="0" rIns="45720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1">
                <a:solidFill>
                  <a:srgbClr val="5B6472"/>
                </a:solidFill>
                <a:latin typeface="Arial"/>
              </a:rPr>
              <a:t>[ Portrait à insérer 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548640"/>
            <a:ext cx="8458200" cy="14813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731520"/>
            <a:ext cx="3108960" cy="502920"/>
          </a:xfrm>
          <a:prstGeom prst="rect">
            <a:avLst/>
          </a:prstGeom>
          <a:noFill/>
        </p:spPr>
        <p:txBody>
          <a:bodyPr wrap="square" lIns="0" rIns="45720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1E2A44"/>
                </a:solidFill>
                <a:latin typeface="Arial"/>
              </a:rPr>
              <a:t>Léa — cœur de cible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325880"/>
            <a:ext cx="3108960" cy="658368"/>
          </a:xfrm>
          <a:prstGeom prst="rect">
            <a:avLst/>
          </a:prstGeom>
          <a:noFill/>
        </p:spPr>
        <p:txBody>
          <a:bodyPr wrap="square" lIns="0" rIns="45720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22 ans · Orléans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Étudiante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Joueuse PC engagée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731520"/>
            <a:ext cx="5166360" cy="1143000"/>
          </a:xfrm>
          <a:prstGeom prst="rect">
            <a:avLst/>
          </a:prstGeom>
          <a:noFill/>
        </p:spPr>
        <p:txBody>
          <a:bodyPr wrap="square" lIns="0" rIns="45720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Acheteuse engagée et early adopter. Elle achète les jeux indé dès la sortie, suit les devlogs et soutient les studios transparents. Elle partage ses runs et recommande ses découvertes à sa communauté.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240280"/>
            <a:ext cx="3291840" cy="310896"/>
          </a:xfrm>
          <a:prstGeom prst="rect">
            <a:avLst/>
          </a:prstGeom>
          <a:noFill/>
        </p:spPr>
        <p:txBody>
          <a:bodyPr wrap="square" lIns="0" rIns="45720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E2A44"/>
                </a:solidFill>
                <a:latin typeface="Arial"/>
              </a:rPr>
              <a:t>Motivations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615184"/>
            <a:ext cx="1417320" cy="310896"/>
          </a:xfrm>
          <a:prstGeom prst="rect">
            <a:avLst/>
          </a:prstGeom>
          <a:noFill/>
        </p:spPr>
        <p:txBody>
          <a:bodyPr wrap="square" lIns="0" rIns="45720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Rejouabilité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2706624"/>
            <a:ext cx="2148840" cy="155448"/>
          </a:xfrm>
          <a:prstGeom prst="roundRect">
            <a:avLst>
              <a:gd name="adj" fmla="val 50000"/>
            </a:avLst>
          </a:prstGeom>
          <a:solidFill>
            <a:srgbClr val="E6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846320" y="2706624"/>
            <a:ext cx="2041398" cy="155448"/>
          </a:xfrm>
          <a:prstGeom prst="roundRect">
            <a:avLst>
              <a:gd name="adj" fmla="val 50000"/>
            </a:avLst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2999232"/>
            <a:ext cx="1417320" cy="310896"/>
          </a:xfrm>
          <a:prstGeom prst="rect">
            <a:avLst/>
          </a:prstGeom>
          <a:noFill/>
        </p:spPr>
        <p:txBody>
          <a:bodyPr wrap="square" lIns="0" rIns="45720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Communauté &amp; partage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46320" y="3090672"/>
            <a:ext cx="2148840" cy="155448"/>
          </a:xfrm>
          <a:prstGeom prst="roundRect">
            <a:avLst>
              <a:gd name="adj" fmla="val 50000"/>
            </a:avLst>
          </a:prstGeom>
          <a:solidFill>
            <a:srgbClr val="E6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46320" y="3090672"/>
            <a:ext cx="1826514" cy="155448"/>
          </a:xfrm>
          <a:prstGeom prst="roundRect">
            <a:avLst>
              <a:gd name="adj" fmla="val 50000"/>
            </a:avLst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7560" y="3383279"/>
            <a:ext cx="1417320" cy="310896"/>
          </a:xfrm>
          <a:prstGeom prst="rect">
            <a:avLst/>
          </a:prstGeom>
          <a:noFill/>
        </p:spPr>
        <p:txBody>
          <a:bodyPr wrap="square" lIns="0" rIns="45720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Prix juste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0" y="3474720"/>
            <a:ext cx="2148840" cy="155448"/>
          </a:xfrm>
          <a:prstGeom prst="roundRect">
            <a:avLst>
              <a:gd name="adj" fmla="val 50000"/>
            </a:avLst>
          </a:prstGeom>
          <a:solidFill>
            <a:srgbClr val="E6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846320" y="3474720"/>
            <a:ext cx="1289304" cy="155448"/>
          </a:xfrm>
          <a:prstGeom prst="roundRect">
            <a:avLst>
              <a:gd name="adj" fmla="val 50000"/>
            </a:avLst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37560" y="3950208"/>
            <a:ext cx="3291840" cy="310896"/>
          </a:xfrm>
          <a:prstGeom prst="rect">
            <a:avLst/>
          </a:prstGeom>
          <a:noFill/>
        </p:spPr>
        <p:txBody>
          <a:bodyPr wrap="square" lIns="0" rIns="45720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E2A44"/>
                </a:solidFill>
                <a:latin typeface="Arial"/>
              </a:rPr>
              <a:t>Canaux préférés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4315968"/>
            <a:ext cx="1554480" cy="310896"/>
          </a:xfrm>
          <a:prstGeom prst="rect">
            <a:avLst/>
          </a:prstGeom>
          <a:noFill/>
        </p:spPr>
        <p:txBody>
          <a:bodyPr wrap="square" lIns="0" rIns="45720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Twitch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83480" y="4407408"/>
            <a:ext cx="2011680" cy="155448"/>
          </a:xfrm>
          <a:prstGeom prst="roundRect">
            <a:avLst>
              <a:gd name="adj" fmla="val 50000"/>
            </a:avLst>
          </a:prstGeom>
          <a:solidFill>
            <a:srgbClr val="E6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983480" y="4407408"/>
            <a:ext cx="1810512" cy="155448"/>
          </a:xfrm>
          <a:prstGeom prst="roundRect">
            <a:avLst>
              <a:gd name="adj" fmla="val 50000"/>
            </a:avLst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37560" y="4681728"/>
            <a:ext cx="1554480" cy="310896"/>
          </a:xfrm>
          <a:prstGeom prst="rect">
            <a:avLst/>
          </a:prstGeom>
          <a:noFill/>
        </p:spPr>
        <p:txBody>
          <a:bodyPr wrap="square" lIns="0" rIns="45720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TikTok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83480" y="4773168"/>
            <a:ext cx="2011680" cy="155448"/>
          </a:xfrm>
          <a:prstGeom prst="roundRect">
            <a:avLst>
              <a:gd name="adj" fmla="val 50000"/>
            </a:avLst>
          </a:prstGeom>
          <a:solidFill>
            <a:srgbClr val="E6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983480" y="4773168"/>
            <a:ext cx="1709928" cy="155448"/>
          </a:xfrm>
          <a:prstGeom prst="roundRect">
            <a:avLst>
              <a:gd name="adj" fmla="val 50000"/>
            </a:avLst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37560" y="5047488"/>
            <a:ext cx="1554480" cy="310896"/>
          </a:xfrm>
          <a:prstGeom prst="rect">
            <a:avLst/>
          </a:prstGeom>
          <a:noFill/>
        </p:spPr>
        <p:txBody>
          <a:bodyPr wrap="square" lIns="0" rIns="45720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Steam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83480" y="5138928"/>
            <a:ext cx="2011680" cy="155448"/>
          </a:xfrm>
          <a:prstGeom prst="roundRect">
            <a:avLst>
              <a:gd name="adj" fmla="val 50000"/>
            </a:avLst>
          </a:prstGeom>
          <a:solidFill>
            <a:srgbClr val="E6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983480" y="5138928"/>
            <a:ext cx="1709928" cy="155448"/>
          </a:xfrm>
          <a:prstGeom prst="roundRect">
            <a:avLst>
              <a:gd name="adj" fmla="val 50000"/>
            </a:avLst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37560" y="5413248"/>
            <a:ext cx="1554480" cy="310896"/>
          </a:xfrm>
          <a:prstGeom prst="rect">
            <a:avLst/>
          </a:prstGeom>
          <a:noFill/>
        </p:spPr>
        <p:txBody>
          <a:bodyPr wrap="square" lIns="0" rIns="45720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Discord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83480" y="5504688"/>
            <a:ext cx="2011680" cy="155448"/>
          </a:xfrm>
          <a:prstGeom prst="roundRect">
            <a:avLst>
              <a:gd name="adj" fmla="val 50000"/>
            </a:avLst>
          </a:prstGeom>
          <a:solidFill>
            <a:srgbClr val="E6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983480" y="5504688"/>
            <a:ext cx="1408176" cy="155448"/>
          </a:xfrm>
          <a:prstGeom prst="roundRect">
            <a:avLst>
              <a:gd name="adj" fmla="val 50000"/>
            </a:avLst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37560" y="5779008"/>
            <a:ext cx="1554480" cy="310896"/>
          </a:xfrm>
          <a:prstGeom prst="rect">
            <a:avLst/>
          </a:prstGeom>
          <a:noFill/>
        </p:spPr>
        <p:txBody>
          <a:bodyPr wrap="square" lIns="0" rIns="45720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YouTube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83480" y="5870448"/>
            <a:ext cx="2011680" cy="155448"/>
          </a:xfrm>
          <a:prstGeom prst="roundRect">
            <a:avLst>
              <a:gd name="adj" fmla="val 50000"/>
            </a:avLst>
          </a:prstGeom>
          <a:solidFill>
            <a:srgbClr val="E6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983480" y="5870448"/>
            <a:ext cx="1307592" cy="155448"/>
          </a:xfrm>
          <a:prstGeom prst="roundRect">
            <a:avLst>
              <a:gd name="adj" fmla="val 50000"/>
            </a:avLst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18120" y="2240280"/>
            <a:ext cx="3977639" cy="310896"/>
          </a:xfrm>
          <a:prstGeom prst="rect">
            <a:avLst/>
          </a:prstGeom>
          <a:noFill/>
        </p:spPr>
        <p:txBody>
          <a:bodyPr wrap="square" lIns="0" rIns="45720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E2A44"/>
                </a:solidFill>
                <a:latin typeface="Arial"/>
              </a:rPr>
              <a:t>Thématiques qui l'intéressent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818120" y="2670048"/>
            <a:ext cx="983894" cy="31089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2D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18120" y="2670048"/>
            <a:ext cx="983894" cy="31089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2D5BFF"/>
                </a:solidFill>
                <a:latin typeface="Arial"/>
              </a:rPr>
              <a:t>Speedrun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11742" y="2670048"/>
            <a:ext cx="1068019" cy="31089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2D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11742" y="2670048"/>
            <a:ext cx="1068019" cy="31089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2D5BFF"/>
                </a:solidFill>
                <a:latin typeface="Arial"/>
              </a:rPr>
              <a:t>Jeux indé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089489" y="2670048"/>
            <a:ext cx="899769" cy="31089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2D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89489" y="2670048"/>
            <a:ext cx="899769" cy="31089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2D5BFF"/>
                </a:solidFill>
                <a:latin typeface="Arial"/>
              </a:rPr>
              <a:t>Modding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18120" y="3090672"/>
            <a:ext cx="1236268" cy="31089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2D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18120" y="3090672"/>
            <a:ext cx="1236268" cy="31089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2D5BFF"/>
                </a:solidFill>
                <a:latin typeface="Arial"/>
              </a:rPr>
              <a:t>Compétition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18120" y="3611880"/>
            <a:ext cx="3977639" cy="310896"/>
          </a:xfrm>
          <a:prstGeom prst="rect">
            <a:avLst/>
          </a:prstGeom>
          <a:noFill/>
        </p:spPr>
        <p:txBody>
          <a:bodyPr wrap="square" lIns="0" rIns="45720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E2A44"/>
                </a:solidFill>
                <a:latin typeface="Arial"/>
              </a:rPr>
              <a:t>Ses objectifs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18120" y="3950208"/>
            <a:ext cx="3977639" cy="1005840"/>
          </a:xfrm>
          <a:prstGeom prst="rect">
            <a:avLst/>
          </a:prstGeom>
          <a:noFill/>
        </p:spPr>
        <p:txBody>
          <a:bodyPr wrap="square" lIns="18288" rIns="36576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2D5BFF"/>
                </a:solidFill>
                <a:latin typeface="Arial"/>
              </a:rPr>
              <a:t>•  </a:t>
            </a:r>
            <a:r>
              <a:rPr sz="1100">
                <a:solidFill>
                  <a:srgbClr val="1E2A44"/>
                </a:solidFill>
                <a:latin typeface="Arial"/>
              </a:rPr>
              <a:t>Acheter dès la sortie (day-one)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2D5BFF"/>
                </a:solidFill>
                <a:latin typeface="Arial"/>
              </a:rPr>
              <a:t>•  </a:t>
            </a:r>
            <a:r>
              <a:rPr sz="1100">
                <a:solidFill>
                  <a:srgbClr val="1E2A44"/>
                </a:solidFill>
                <a:latin typeface="Arial"/>
              </a:rPr>
              <a:t>Soutenir un studio indé transparent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2D5BFF"/>
                </a:solidFill>
                <a:latin typeface="Arial"/>
              </a:rPr>
              <a:t>•  </a:t>
            </a:r>
            <a:r>
              <a:rPr sz="1100">
                <a:solidFill>
                  <a:srgbClr val="1E2A44"/>
                </a:solidFill>
                <a:latin typeface="Arial"/>
              </a:rPr>
              <a:t>Partager ses runs &amp; recommander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18120" y="4983480"/>
            <a:ext cx="3977639" cy="310896"/>
          </a:xfrm>
          <a:prstGeom prst="rect">
            <a:avLst/>
          </a:prstGeom>
          <a:noFill/>
        </p:spPr>
        <p:txBody>
          <a:bodyPr wrap="square" lIns="0" rIns="45720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E2A44"/>
                </a:solidFill>
                <a:latin typeface="Arial"/>
              </a:rPr>
              <a:t>Ses frustrations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18120" y="5321808"/>
            <a:ext cx="3977639" cy="1005840"/>
          </a:xfrm>
          <a:prstGeom prst="rect">
            <a:avLst/>
          </a:prstGeom>
          <a:noFill/>
        </p:spPr>
        <p:txBody>
          <a:bodyPr wrap="square" lIns="18288" rIns="36576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2D5BFF"/>
                </a:solidFill>
                <a:latin typeface="Arial"/>
              </a:rPr>
              <a:t>•  </a:t>
            </a:r>
            <a:r>
              <a:rPr sz="1100">
                <a:solidFill>
                  <a:srgbClr val="1E2A44"/>
                </a:solidFill>
                <a:latin typeface="Arial"/>
              </a:rPr>
              <a:t>Jeux chers sans rejouabilité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2D5BFF"/>
                </a:solidFill>
                <a:latin typeface="Arial"/>
              </a:rPr>
              <a:t>•  </a:t>
            </a:r>
            <a:r>
              <a:rPr sz="1100">
                <a:solidFill>
                  <a:srgbClr val="1E2A44"/>
                </a:solidFill>
                <a:latin typeface="Arial"/>
              </a:rPr>
              <a:t>Pas de démo avant achat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2D5BFF"/>
                </a:solidFill>
                <a:latin typeface="Arial"/>
              </a:rPr>
              <a:t>•  </a:t>
            </a:r>
            <a:r>
              <a:rPr sz="1100">
                <a:solidFill>
                  <a:srgbClr val="1E2A44"/>
                </a:solidFill>
                <a:latin typeface="Arial"/>
              </a:rPr>
              <a:t>Manque de transparence sur le dev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 lIns="0" rIns="45720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D5BFF"/>
                </a:solidFill>
                <a:latin typeface="Arial"/>
              </a:rPr>
              <a:t>B6.A1.C1  ·  CŒUR DE CIBLE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502920" y="-502920"/>
            <a:ext cx="1554480" cy="1554480"/>
          </a:xfrm>
          <a:prstGeom prst="rtTriangle">
            <a:avLst/>
          </a:prstGeom>
          <a:solidFill>
            <a:srgbClr val="35D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10800000">
            <a:off x="11155680" y="5486400"/>
            <a:ext cx="1554480" cy="1554480"/>
          </a:xfrm>
          <a:prstGeom prst="rtTriangle">
            <a:avLst/>
          </a:prstGeom>
          <a:solidFill>
            <a:srgbClr val="9BE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548640"/>
            <a:ext cx="2743200" cy="5760720"/>
          </a:xfrm>
          <a:prstGeom prst="roundRect">
            <a:avLst>
              <a:gd name="adj" fmla="val 4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89888" y="1783080"/>
            <a:ext cx="822960" cy="822960"/>
          </a:xfrm>
          <a:prstGeom prst="ellipse">
            <a:avLst/>
          </a:prstGeom>
          <a:solidFill>
            <a:srgbClr val="C3C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788920"/>
            <a:ext cx="1783080" cy="1920240"/>
          </a:xfrm>
          <a:prstGeom prst="roundRect">
            <a:avLst>
              <a:gd name="adj" fmla="val 50000"/>
            </a:avLst>
          </a:prstGeom>
          <a:solidFill>
            <a:srgbClr val="C3C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852160"/>
            <a:ext cx="2560320" cy="365760"/>
          </a:xfrm>
          <a:prstGeom prst="rect">
            <a:avLst/>
          </a:prstGeom>
          <a:noFill/>
        </p:spPr>
        <p:txBody>
          <a:bodyPr wrap="square" lIns="0" rIns="45720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1">
                <a:solidFill>
                  <a:srgbClr val="5B6472"/>
                </a:solidFill>
                <a:latin typeface="Arial"/>
              </a:rPr>
              <a:t>[ Portrait à insérer 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548640"/>
            <a:ext cx="8458200" cy="14813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731520"/>
            <a:ext cx="3108960" cy="502920"/>
          </a:xfrm>
          <a:prstGeom prst="rect">
            <a:avLst/>
          </a:prstGeom>
          <a:noFill/>
        </p:spPr>
        <p:txBody>
          <a:bodyPr wrap="square" lIns="0" rIns="45720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1E2A44"/>
                </a:solidFill>
                <a:latin typeface="Arial"/>
              </a:rPr>
              <a:t>Paul — cible secondaire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325880"/>
            <a:ext cx="3108960" cy="658368"/>
          </a:xfrm>
          <a:prstGeom prst="rect">
            <a:avLst/>
          </a:prstGeom>
          <a:noFill/>
        </p:spPr>
        <p:txBody>
          <a:bodyPr wrap="square" lIns="0" rIns="45720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36 ans · Lyon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Père de famille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Acheteur prudent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731520"/>
            <a:ext cx="5166360" cy="1143000"/>
          </a:xfrm>
          <a:prstGeom prst="rect">
            <a:avLst/>
          </a:prstGeom>
          <a:noFill/>
        </p:spPr>
        <p:txBody>
          <a:bodyPr wrap="square" lIns="0" rIns="45720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Consommateur raisonné : il attend les promotions et les avis avant d'acheter. Il achète surtout sur Steam, cherche un jeu accessible à jouer en famille et sur de courtes sessions.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240280"/>
            <a:ext cx="3291840" cy="310896"/>
          </a:xfrm>
          <a:prstGeom prst="rect">
            <a:avLst/>
          </a:prstGeom>
          <a:noFill/>
        </p:spPr>
        <p:txBody>
          <a:bodyPr wrap="square" lIns="0" rIns="45720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E2A44"/>
                </a:solidFill>
                <a:latin typeface="Arial"/>
              </a:rPr>
              <a:t>Motivations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615184"/>
            <a:ext cx="1417320" cy="310896"/>
          </a:xfrm>
          <a:prstGeom prst="rect">
            <a:avLst/>
          </a:prstGeom>
          <a:noFill/>
        </p:spPr>
        <p:txBody>
          <a:bodyPr wrap="square" lIns="0" rIns="45720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Prix / promotions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2706624"/>
            <a:ext cx="2148840" cy="155448"/>
          </a:xfrm>
          <a:prstGeom prst="roundRect">
            <a:avLst>
              <a:gd name="adj" fmla="val 50000"/>
            </a:avLst>
          </a:prstGeom>
          <a:solidFill>
            <a:srgbClr val="E6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846320" y="2706624"/>
            <a:ext cx="1933956" cy="155448"/>
          </a:xfrm>
          <a:prstGeom prst="roundRect">
            <a:avLst>
              <a:gd name="adj" fmla="val 50000"/>
            </a:avLst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2999232"/>
            <a:ext cx="1417320" cy="310896"/>
          </a:xfrm>
          <a:prstGeom prst="rect">
            <a:avLst/>
          </a:prstGeom>
          <a:noFill/>
        </p:spPr>
        <p:txBody>
          <a:bodyPr wrap="square" lIns="0" rIns="45720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Avis &amp; reviews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46320" y="3090672"/>
            <a:ext cx="2148840" cy="155448"/>
          </a:xfrm>
          <a:prstGeom prst="roundRect">
            <a:avLst>
              <a:gd name="adj" fmla="val 50000"/>
            </a:avLst>
          </a:prstGeom>
          <a:solidFill>
            <a:srgbClr val="E6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46320" y="3090672"/>
            <a:ext cx="1719072" cy="155448"/>
          </a:xfrm>
          <a:prstGeom prst="roundRect">
            <a:avLst>
              <a:gd name="adj" fmla="val 50000"/>
            </a:avLst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7560" y="3383279"/>
            <a:ext cx="1417320" cy="310896"/>
          </a:xfrm>
          <a:prstGeom prst="rect">
            <a:avLst/>
          </a:prstGeom>
          <a:noFill/>
        </p:spPr>
        <p:txBody>
          <a:bodyPr wrap="square" lIns="0" rIns="45720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Simplicité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0" y="3474720"/>
            <a:ext cx="2148840" cy="155448"/>
          </a:xfrm>
          <a:prstGeom prst="roundRect">
            <a:avLst>
              <a:gd name="adj" fmla="val 50000"/>
            </a:avLst>
          </a:prstGeom>
          <a:solidFill>
            <a:srgbClr val="E6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846320" y="3474720"/>
            <a:ext cx="1611630" cy="155448"/>
          </a:xfrm>
          <a:prstGeom prst="roundRect">
            <a:avLst>
              <a:gd name="adj" fmla="val 50000"/>
            </a:avLst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37560" y="3950208"/>
            <a:ext cx="3291840" cy="310896"/>
          </a:xfrm>
          <a:prstGeom prst="rect">
            <a:avLst/>
          </a:prstGeom>
          <a:noFill/>
        </p:spPr>
        <p:txBody>
          <a:bodyPr wrap="square" lIns="0" rIns="45720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E2A44"/>
                </a:solidFill>
                <a:latin typeface="Arial"/>
              </a:rPr>
              <a:t>Canaux préférés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4315968"/>
            <a:ext cx="1554480" cy="310896"/>
          </a:xfrm>
          <a:prstGeom prst="rect">
            <a:avLst/>
          </a:prstGeom>
          <a:noFill/>
        </p:spPr>
        <p:txBody>
          <a:bodyPr wrap="square" lIns="0" rIns="45720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Facebook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83480" y="4407408"/>
            <a:ext cx="2011680" cy="155448"/>
          </a:xfrm>
          <a:prstGeom prst="roundRect">
            <a:avLst>
              <a:gd name="adj" fmla="val 50000"/>
            </a:avLst>
          </a:prstGeom>
          <a:solidFill>
            <a:srgbClr val="E6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983480" y="4407408"/>
            <a:ext cx="1709928" cy="155448"/>
          </a:xfrm>
          <a:prstGeom prst="roundRect">
            <a:avLst>
              <a:gd name="adj" fmla="val 50000"/>
            </a:avLst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37560" y="4681728"/>
            <a:ext cx="1554480" cy="310896"/>
          </a:xfrm>
          <a:prstGeom prst="rect">
            <a:avLst/>
          </a:prstGeom>
          <a:noFill/>
        </p:spPr>
        <p:txBody>
          <a:bodyPr wrap="square" lIns="0" rIns="45720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Instagram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83480" y="4773168"/>
            <a:ext cx="2011680" cy="155448"/>
          </a:xfrm>
          <a:prstGeom prst="roundRect">
            <a:avLst>
              <a:gd name="adj" fmla="val 50000"/>
            </a:avLst>
          </a:prstGeom>
          <a:solidFill>
            <a:srgbClr val="E6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983480" y="4773168"/>
            <a:ext cx="1508760" cy="155448"/>
          </a:xfrm>
          <a:prstGeom prst="roundRect">
            <a:avLst>
              <a:gd name="adj" fmla="val 50000"/>
            </a:avLst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37560" y="5047488"/>
            <a:ext cx="1554480" cy="310896"/>
          </a:xfrm>
          <a:prstGeom prst="rect">
            <a:avLst/>
          </a:prstGeom>
          <a:noFill/>
        </p:spPr>
        <p:txBody>
          <a:bodyPr wrap="square" lIns="0" rIns="45720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YouTube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83480" y="5138928"/>
            <a:ext cx="2011680" cy="155448"/>
          </a:xfrm>
          <a:prstGeom prst="roundRect">
            <a:avLst>
              <a:gd name="adj" fmla="val 50000"/>
            </a:avLst>
          </a:prstGeom>
          <a:solidFill>
            <a:srgbClr val="E6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983480" y="5138928"/>
            <a:ext cx="1207008" cy="155448"/>
          </a:xfrm>
          <a:prstGeom prst="roundRect">
            <a:avLst>
              <a:gd name="adj" fmla="val 50000"/>
            </a:avLst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37560" y="5413248"/>
            <a:ext cx="1554480" cy="310896"/>
          </a:xfrm>
          <a:prstGeom prst="rect">
            <a:avLst/>
          </a:prstGeom>
          <a:noFill/>
        </p:spPr>
        <p:txBody>
          <a:bodyPr wrap="square" lIns="0" rIns="45720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Steam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83480" y="5504688"/>
            <a:ext cx="2011680" cy="155448"/>
          </a:xfrm>
          <a:prstGeom prst="roundRect">
            <a:avLst>
              <a:gd name="adj" fmla="val 50000"/>
            </a:avLst>
          </a:prstGeom>
          <a:solidFill>
            <a:srgbClr val="E6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983480" y="5504688"/>
            <a:ext cx="1408176" cy="155448"/>
          </a:xfrm>
          <a:prstGeom prst="roundRect">
            <a:avLst>
              <a:gd name="adj" fmla="val 50000"/>
            </a:avLst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37560" y="5779008"/>
            <a:ext cx="1554480" cy="310896"/>
          </a:xfrm>
          <a:prstGeom prst="rect">
            <a:avLst/>
          </a:prstGeom>
          <a:noFill/>
        </p:spPr>
        <p:txBody>
          <a:bodyPr wrap="square" lIns="0" rIns="45720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Newsletter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83480" y="5870448"/>
            <a:ext cx="2011680" cy="155448"/>
          </a:xfrm>
          <a:prstGeom prst="roundRect">
            <a:avLst>
              <a:gd name="adj" fmla="val 50000"/>
            </a:avLst>
          </a:prstGeom>
          <a:solidFill>
            <a:srgbClr val="E6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983480" y="5870448"/>
            <a:ext cx="905256" cy="155448"/>
          </a:xfrm>
          <a:prstGeom prst="roundRect">
            <a:avLst>
              <a:gd name="adj" fmla="val 50000"/>
            </a:avLst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18120" y="2240280"/>
            <a:ext cx="3977639" cy="310896"/>
          </a:xfrm>
          <a:prstGeom prst="rect">
            <a:avLst/>
          </a:prstGeom>
          <a:noFill/>
        </p:spPr>
        <p:txBody>
          <a:bodyPr wrap="square" lIns="0" rIns="45720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E2A44"/>
                </a:solidFill>
                <a:latin typeface="Arial"/>
              </a:rPr>
              <a:t>Thématiques qui l'intéressent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818120" y="2670048"/>
            <a:ext cx="1152144" cy="31089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2D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18120" y="2670048"/>
            <a:ext cx="1152144" cy="31089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2D5BFF"/>
                </a:solidFill>
                <a:latin typeface="Arial"/>
              </a:rPr>
              <a:t>Bons plans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79992" y="2670048"/>
            <a:ext cx="1488643" cy="31089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2D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79992" y="2670048"/>
            <a:ext cx="1488643" cy="31089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2D5BFF"/>
                </a:solidFill>
                <a:latin typeface="Arial"/>
              </a:rPr>
              <a:t>Jeux familiaux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678363" y="2670048"/>
            <a:ext cx="815644" cy="31089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2D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678363" y="2670048"/>
            <a:ext cx="815644" cy="31089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2D5BFF"/>
                </a:solidFill>
                <a:latin typeface="Arial"/>
              </a:rPr>
              <a:t>Arcade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18120" y="3090672"/>
            <a:ext cx="1320393" cy="31089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2D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18120" y="3090672"/>
            <a:ext cx="1320393" cy="31089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2D5BFF"/>
                </a:solidFill>
                <a:latin typeface="Arial"/>
              </a:rPr>
              <a:t>Avis joueurs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18120" y="3611880"/>
            <a:ext cx="3977639" cy="310896"/>
          </a:xfrm>
          <a:prstGeom prst="rect">
            <a:avLst/>
          </a:prstGeom>
          <a:noFill/>
        </p:spPr>
        <p:txBody>
          <a:bodyPr wrap="square" lIns="0" rIns="45720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E2A44"/>
                </a:solidFill>
                <a:latin typeface="Arial"/>
              </a:rPr>
              <a:t>Ses objectifs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18120" y="3950208"/>
            <a:ext cx="3977639" cy="1005840"/>
          </a:xfrm>
          <a:prstGeom prst="rect">
            <a:avLst/>
          </a:prstGeom>
          <a:noFill/>
        </p:spPr>
        <p:txBody>
          <a:bodyPr wrap="square" lIns="18288" rIns="36576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2D5BFF"/>
                </a:solidFill>
                <a:latin typeface="Arial"/>
              </a:rPr>
              <a:t>•  </a:t>
            </a:r>
            <a:r>
              <a:rPr sz="1100">
                <a:solidFill>
                  <a:srgbClr val="1E2A44"/>
                </a:solidFill>
                <a:latin typeface="Arial"/>
              </a:rPr>
              <a:t>Acheter en promotion / via sa wishlist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2D5BFF"/>
                </a:solidFill>
                <a:latin typeface="Arial"/>
              </a:rPr>
              <a:t>•  </a:t>
            </a:r>
            <a:r>
              <a:rPr sz="1100">
                <a:solidFill>
                  <a:srgbClr val="1E2A44"/>
                </a:solidFill>
                <a:latin typeface="Arial"/>
              </a:rPr>
              <a:t>Un jeu accessible pour toute la famille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2D5BFF"/>
                </a:solidFill>
                <a:latin typeface="Arial"/>
              </a:rPr>
              <a:t>•  </a:t>
            </a:r>
            <a:r>
              <a:rPr sz="1100">
                <a:solidFill>
                  <a:srgbClr val="1E2A44"/>
                </a:solidFill>
                <a:latin typeface="Arial"/>
              </a:rPr>
              <a:t>Sessions courtes et plaisir immédiat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18120" y="4983480"/>
            <a:ext cx="3977639" cy="310896"/>
          </a:xfrm>
          <a:prstGeom prst="rect">
            <a:avLst/>
          </a:prstGeom>
          <a:noFill/>
        </p:spPr>
        <p:txBody>
          <a:bodyPr wrap="square" lIns="0" rIns="45720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E2A44"/>
                </a:solidFill>
                <a:latin typeface="Arial"/>
              </a:rPr>
              <a:t>Ses frustrations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18120" y="5321808"/>
            <a:ext cx="3977639" cy="1005840"/>
          </a:xfrm>
          <a:prstGeom prst="rect">
            <a:avLst/>
          </a:prstGeom>
          <a:noFill/>
        </p:spPr>
        <p:txBody>
          <a:bodyPr wrap="square" lIns="18288" rIns="36576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2D5BFF"/>
                </a:solidFill>
                <a:latin typeface="Arial"/>
              </a:rPr>
              <a:t>•  </a:t>
            </a:r>
            <a:r>
              <a:rPr sz="1100">
                <a:solidFill>
                  <a:srgbClr val="1E2A44"/>
                </a:solidFill>
                <a:latin typeface="Arial"/>
              </a:rPr>
              <a:t>Prix de lancement élevé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2D5BFF"/>
                </a:solidFill>
                <a:latin typeface="Arial"/>
              </a:rPr>
              <a:t>•  </a:t>
            </a:r>
            <a:r>
              <a:rPr sz="1100">
                <a:solidFill>
                  <a:srgbClr val="1E2A44"/>
                </a:solidFill>
                <a:latin typeface="Arial"/>
              </a:rPr>
              <a:t>Jeux trop complexes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2D5BFF"/>
                </a:solidFill>
                <a:latin typeface="Arial"/>
              </a:rPr>
              <a:t>•  </a:t>
            </a:r>
            <a:r>
              <a:rPr sz="1100">
                <a:solidFill>
                  <a:srgbClr val="1E2A44"/>
                </a:solidFill>
                <a:latin typeface="Arial"/>
              </a:rPr>
              <a:t>Manque de temps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 lIns="0" rIns="45720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D5BFF"/>
                </a:solidFill>
                <a:latin typeface="Arial"/>
              </a:rPr>
              <a:t>B6.A1.C1  ·  CIBLE SECONDAIRE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502920" y="-502920"/>
            <a:ext cx="1554480" cy="1554480"/>
          </a:xfrm>
          <a:prstGeom prst="rtTriangle">
            <a:avLst/>
          </a:prstGeom>
          <a:solidFill>
            <a:srgbClr val="35D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10800000">
            <a:off x="11155680" y="5486400"/>
            <a:ext cx="1554480" cy="1554480"/>
          </a:xfrm>
          <a:prstGeom prst="rtTriangle">
            <a:avLst/>
          </a:prstGeom>
          <a:solidFill>
            <a:srgbClr val="9BE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548640"/>
            <a:ext cx="2743200" cy="5760720"/>
          </a:xfrm>
          <a:prstGeom prst="roundRect">
            <a:avLst>
              <a:gd name="adj" fmla="val 4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89888" y="1783080"/>
            <a:ext cx="822960" cy="822960"/>
          </a:xfrm>
          <a:prstGeom prst="ellipse">
            <a:avLst/>
          </a:prstGeom>
          <a:solidFill>
            <a:srgbClr val="C3C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788920"/>
            <a:ext cx="1783080" cy="1920240"/>
          </a:xfrm>
          <a:prstGeom prst="roundRect">
            <a:avLst>
              <a:gd name="adj" fmla="val 50000"/>
            </a:avLst>
          </a:prstGeom>
          <a:solidFill>
            <a:srgbClr val="C3C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852160"/>
            <a:ext cx="2560320" cy="365760"/>
          </a:xfrm>
          <a:prstGeom prst="rect">
            <a:avLst/>
          </a:prstGeom>
          <a:noFill/>
        </p:spPr>
        <p:txBody>
          <a:bodyPr wrap="square" lIns="0" rIns="45720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1">
                <a:solidFill>
                  <a:srgbClr val="5B6472"/>
                </a:solidFill>
                <a:latin typeface="Arial"/>
              </a:rPr>
              <a:t>[ Portrait à insérer 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548640"/>
            <a:ext cx="8458200" cy="14813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731520"/>
            <a:ext cx="3108960" cy="502920"/>
          </a:xfrm>
          <a:prstGeom prst="rect">
            <a:avLst/>
          </a:prstGeom>
          <a:noFill/>
        </p:spPr>
        <p:txBody>
          <a:bodyPr wrap="square" lIns="0" rIns="45720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1E2A44"/>
                </a:solidFill>
                <a:latin typeface="Arial"/>
              </a:rPr>
              <a:t>Max — créateur de contenu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325880"/>
            <a:ext cx="3108960" cy="658368"/>
          </a:xfrm>
          <a:prstGeom prst="rect">
            <a:avLst/>
          </a:prstGeom>
          <a:noFill/>
        </p:spPr>
        <p:txBody>
          <a:bodyPr wrap="square" lIns="0" rIns="45720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27 ans · en ligne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Streamer / YouTubeur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Relai d'influence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731520"/>
            <a:ext cx="5166360" cy="1143000"/>
          </a:xfrm>
          <a:prstGeom prst="rect">
            <a:avLst/>
          </a:prstGeom>
          <a:noFill/>
        </p:spPr>
        <p:txBody>
          <a:bodyPr wrap="square" lIns="0" rIns="45720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Créateur de contenu spécialisé jeux de mouvement et speedrun. Il cherche des titres « clip-ables » qui génèrent des vues. Relai clé de viralité : un run parfait peut atteindre des centaines de milliers de vues.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240280"/>
            <a:ext cx="3291840" cy="310896"/>
          </a:xfrm>
          <a:prstGeom prst="rect">
            <a:avLst/>
          </a:prstGeom>
          <a:noFill/>
        </p:spPr>
        <p:txBody>
          <a:bodyPr wrap="square" lIns="0" rIns="45720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E2A44"/>
                </a:solidFill>
                <a:latin typeface="Arial"/>
              </a:rPr>
              <a:t>Motivations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615184"/>
            <a:ext cx="1417320" cy="310896"/>
          </a:xfrm>
          <a:prstGeom prst="rect">
            <a:avLst/>
          </a:prstGeom>
          <a:noFill/>
        </p:spPr>
        <p:txBody>
          <a:bodyPr wrap="square" lIns="0" rIns="45720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Contenu viral / vues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2706624"/>
            <a:ext cx="2148840" cy="155448"/>
          </a:xfrm>
          <a:prstGeom prst="roundRect">
            <a:avLst>
              <a:gd name="adj" fmla="val 50000"/>
            </a:avLst>
          </a:prstGeom>
          <a:solidFill>
            <a:srgbClr val="E6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846320" y="2706624"/>
            <a:ext cx="2041398" cy="155448"/>
          </a:xfrm>
          <a:prstGeom prst="roundRect">
            <a:avLst>
              <a:gd name="adj" fmla="val 50000"/>
            </a:avLst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2999232"/>
            <a:ext cx="1417320" cy="310896"/>
          </a:xfrm>
          <a:prstGeom prst="rect">
            <a:avLst/>
          </a:prstGeom>
          <a:noFill/>
        </p:spPr>
        <p:txBody>
          <a:bodyPr wrap="square" lIns="0" rIns="45720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Nouveauté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46320" y="3090672"/>
            <a:ext cx="2148840" cy="155448"/>
          </a:xfrm>
          <a:prstGeom prst="roundRect">
            <a:avLst>
              <a:gd name="adj" fmla="val 50000"/>
            </a:avLst>
          </a:prstGeom>
          <a:solidFill>
            <a:srgbClr val="E6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46320" y="3090672"/>
            <a:ext cx="1826514" cy="155448"/>
          </a:xfrm>
          <a:prstGeom prst="roundRect">
            <a:avLst>
              <a:gd name="adj" fmla="val 50000"/>
            </a:avLst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7560" y="3383279"/>
            <a:ext cx="1417320" cy="310896"/>
          </a:xfrm>
          <a:prstGeom prst="rect">
            <a:avLst/>
          </a:prstGeom>
          <a:noFill/>
        </p:spPr>
        <p:txBody>
          <a:bodyPr wrap="square" lIns="0" rIns="45720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Interaction communauté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0" y="3474720"/>
            <a:ext cx="2148840" cy="155448"/>
          </a:xfrm>
          <a:prstGeom prst="roundRect">
            <a:avLst>
              <a:gd name="adj" fmla="val 50000"/>
            </a:avLst>
          </a:prstGeom>
          <a:solidFill>
            <a:srgbClr val="E6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846320" y="3474720"/>
            <a:ext cx="1719072" cy="155448"/>
          </a:xfrm>
          <a:prstGeom prst="roundRect">
            <a:avLst>
              <a:gd name="adj" fmla="val 50000"/>
            </a:avLst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37560" y="3950208"/>
            <a:ext cx="3291840" cy="310896"/>
          </a:xfrm>
          <a:prstGeom prst="rect">
            <a:avLst/>
          </a:prstGeom>
          <a:noFill/>
        </p:spPr>
        <p:txBody>
          <a:bodyPr wrap="square" lIns="0" rIns="45720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E2A44"/>
                </a:solidFill>
                <a:latin typeface="Arial"/>
              </a:rPr>
              <a:t>Canaux préférés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4315968"/>
            <a:ext cx="1554480" cy="310896"/>
          </a:xfrm>
          <a:prstGeom prst="rect">
            <a:avLst/>
          </a:prstGeom>
          <a:noFill/>
        </p:spPr>
        <p:txBody>
          <a:bodyPr wrap="square" lIns="0" rIns="45720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Twitch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83480" y="4407408"/>
            <a:ext cx="2011680" cy="155448"/>
          </a:xfrm>
          <a:prstGeom prst="roundRect">
            <a:avLst>
              <a:gd name="adj" fmla="val 50000"/>
            </a:avLst>
          </a:prstGeom>
          <a:solidFill>
            <a:srgbClr val="E6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983480" y="4407408"/>
            <a:ext cx="1911095" cy="155448"/>
          </a:xfrm>
          <a:prstGeom prst="roundRect">
            <a:avLst>
              <a:gd name="adj" fmla="val 50000"/>
            </a:avLst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37560" y="4681728"/>
            <a:ext cx="1554480" cy="310896"/>
          </a:xfrm>
          <a:prstGeom prst="rect">
            <a:avLst/>
          </a:prstGeom>
          <a:noFill/>
        </p:spPr>
        <p:txBody>
          <a:bodyPr wrap="square" lIns="0" rIns="45720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YouTube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83480" y="4773168"/>
            <a:ext cx="2011680" cy="155448"/>
          </a:xfrm>
          <a:prstGeom prst="roundRect">
            <a:avLst>
              <a:gd name="adj" fmla="val 50000"/>
            </a:avLst>
          </a:prstGeom>
          <a:solidFill>
            <a:srgbClr val="E6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983480" y="4773168"/>
            <a:ext cx="1810512" cy="155448"/>
          </a:xfrm>
          <a:prstGeom prst="roundRect">
            <a:avLst>
              <a:gd name="adj" fmla="val 50000"/>
            </a:avLst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37560" y="5047488"/>
            <a:ext cx="1554480" cy="310896"/>
          </a:xfrm>
          <a:prstGeom prst="rect">
            <a:avLst/>
          </a:prstGeom>
          <a:noFill/>
        </p:spPr>
        <p:txBody>
          <a:bodyPr wrap="square" lIns="0" rIns="45720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TikTok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83480" y="5138928"/>
            <a:ext cx="2011680" cy="155448"/>
          </a:xfrm>
          <a:prstGeom prst="roundRect">
            <a:avLst>
              <a:gd name="adj" fmla="val 50000"/>
            </a:avLst>
          </a:prstGeom>
          <a:solidFill>
            <a:srgbClr val="E6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983480" y="5138928"/>
            <a:ext cx="1709928" cy="155448"/>
          </a:xfrm>
          <a:prstGeom prst="roundRect">
            <a:avLst>
              <a:gd name="adj" fmla="val 50000"/>
            </a:avLst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37560" y="5413248"/>
            <a:ext cx="1554480" cy="310896"/>
          </a:xfrm>
          <a:prstGeom prst="rect">
            <a:avLst/>
          </a:prstGeom>
          <a:noFill/>
        </p:spPr>
        <p:txBody>
          <a:bodyPr wrap="square" lIns="0" rIns="45720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X (Twitter)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83480" y="5504688"/>
            <a:ext cx="2011680" cy="155448"/>
          </a:xfrm>
          <a:prstGeom prst="roundRect">
            <a:avLst>
              <a:gd name="adj" fmla="val 50000"/>
            </a:avLst>
          </a:prstGeom>
          <a:solidFill>
            <a:srgbClr val="E6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983480" y="5504688"/>
            <a:ext cx="1207008" cy="155448"/>
          </a:xfrm>
          <a:prstGeom prst="roundRect">
            <a:avLst>
              <a:gd name="adj" fmla="val 50000"/>
            </a:avLst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37560" y="5779008"/>
            <a:ext cx="1554480" cy="310896"/>
          </a:xfrm>
          <a:prstGeom prst="rect">
            <a:avLst/>
          </a:prstGeom>
          <a:noFill/>
        </p:spPr>
        <p:txBody>
          <a:bodyPr wrap="square" lIns="0" rIns="45720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Discord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83480" y="5870448"/>
            <a:ext cx="2011680" cy="155448"/>
          </a:xfrm>
          <a:prstGeom prst="roundRect">
            <a:avLst>
              <a:gd name="adj" fmla="val 50000"/>
            </a:avLst>
          </a:prstGeom>
          <a:solidFill>
            <a:srgbClr val="E6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983480" y="5870448"/>
            <a:ext cx="1408176" cy="155448"/>
          </a:xfrm>
          <a:prstGeom prst="roundRect">
            <a:avLst>
              <a:gd name="adj" fmla="val 50000"/>
            </a:avLst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18120" y="2240280"/>
            <a:ext cx="3977639" cy="310896"/>
          </a:xfrm>
          <a:prstGeom prst="rect">
            <a:avLst/>
          </a:prstGeom>
          <a:noFill/>
        </p:spPr>
        <p:txBody>
          <a:bodyPr wrap="square" lIns="0" rIns="45720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E2A44"/>
                </a:solidFill>
                <a:latin typeface="Arial"/>
              </a:rPr>
              <a:t>Thématiques qui l'intéressent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818120" y="2670048"/>
            <a:ext cx="1404518" cy="31089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2D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18120" y="2670048"/>
            <a:ext cx="1404518" cy="31089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2D5BFF"/>
                </a:solidFill>
                <a:latin typeface="Arial"/>
              </a:rPr>
              <a:t>Runs parfaits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332366" y="2670048"/>
            <a:ext cx="1152144" cy="31089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2D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32366" y="2670048"/>
            <a:ext cx="1152144" cy="31089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2D5BFF"/>
                </a:solidFill>
                <a:latin typeface="Arial"/>
              </a:rPr>
              <a:t>Challenges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594238" y="2670048"/>
            <a:ext cx="983894" cy="31089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2D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94238" y="2670048"/>
            <a:ext cx="983894" cy="31089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2D5BFF"/>
                </a:solidFill>
                <a:latin typeface="Arial"/>
              </a:rPr>
              <a:t>Speedrun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18120" y="3090672"/>
            <a:ext cx="1741017" cy="31089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2D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18120" y="3090672"/>
            <a:ext cx="1741017" cy="31089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2D5BFF"/>
                </a:solidFill>
                <a:latin typeface="Arial"/>
              </a:rPr>
              <a:t>Versus communauté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18120" y="3611880"/>
            <a:ext cx="3977639" cy="310896"/>
          </a:xfrm>
          <a:prstGeom prst="rect">
            <a:avLst/>
          </a:prstGeom>
          <a:noFill/>
        </p:spPr>
        <p:txBody>
          <a:bodyPr wrap="square" lIns="0" rIns="45720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E2A44"/>
                </a:solidFill>
                <a:latin typeface="Arial"/>
              </a:rPr>
              <a:t>Ses objectifs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18120" y="3950208"/>
            <a:ext cx="3977639" cy="1005840"/>
          </a:xfrm>
          <a:prstGeom prst="rect">
            <a:avLst/>
          </a:prstGeom>
          <a:noFill/>
        </p:spPr>
        <p:txBody>
          <a:bodyPr wrap="square" lIns="18288" rIns="36576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2D5BFF"/>
                </a:solidFill>
                <a:latin typeface="Arial"/>
              </a:rPr>
              <a:t>•  </a:t>
            </a:r>
            <a:r>
              <a:rPr sz="1100">
                <a:solidFill>
                  <a:srgbClr val="1E2A44"/>
                </a:solidFill>
                <a:latin typeface="Arial"/>
              </a:rPr>
              <a:t>Du contenu spectaculaire qui fait des vues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2D5BFF"/>
                </a:solidFill>
                <a:latin typeface="Arial"/>
              </a:rPr>
              <a:t>•  </a:t>
            </a:r>
            <a:r>
              <a:rPr sz="1100">
                <a:solidFill>
                  <a:srgbClr val="1E2A44"/>
                </a:solidFill>
                <a:latin typeface="Arial"/>
              </a:rPr>
              <a:t>Accès anticipé / clé créateur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2D5BFF"/>
                </a:solidFill>
                <a:latin typeface="Arial"/>
              </a:rPr>
              <a:t>•  </a:t>
            </a:r>
            <a:r>
              <a:rPr sz="1100">
                <a:solidFill>
                  <a:srgbClr val="1E2A44"/>
                </a:solidFill>
                <a:latin typeface="Arial"/>
              </a:rPr>
              <a:t>Events &amp; challenges à relayer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18120" y="4983480"/>
            <a:ext cx="3977639" cy="310896"/>
          </a:xfrm>
          <a:prstGeom prst="rect">
            <a:avLst/>
          </a:prstGeom>
          <a:noFill/>
        </p:spPr>
        <p:txBody>
          <a:bodyPr wrap="square" lIns="0" rIns="45720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E2A44"/>
                </a:solidFill>
                <a:latin typeface="Arial"/>
              </a:rPr>
              <a:t>Ses frustrations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18120" y="5321808"/>
            <a:ext cx="3977639" cy="1005840"/>
          </a:xfrm>
          <a:prstGeom prst="rect">
            <a:avLst/>
          </a:prstGeom>
          <a:noFill/>
        </p:spPr>
        <p:txBody>
          <a:bodyPr wrap="square" lIns="18288" rIns="36576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2D5BFF"/>
                </a:solidFill>
                <a:latin typeface="Arial"/>
              </a:rPr>
              <a:t>•  </a:t>
            </a:r>
            <a:r>
              <a:rPr sz="1100">
                <a:solidFill>
                  <a:srgbClr val="1E2A44"/>
                </a:solidFill>
                <a:latin typeface="Arial"/>
              </a:rPr>
              <a:t>Jeux peu « clip-ables »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2D5BFF"/>
                </a:solidFill>
                <a:latin typeface="Arial"/>
              </a:rPr>
              <a:t>•  </a:t>
            </a:r>
            <a:r>
              <a:rPr sz="1100">
                <a:solidFill>
                  <a:srgbClr val="1E2A44"/>
                </a:solidFill>
                <a:latin typeface="Arial"/>
              </a:rPr>
              <a:t>Pas de programme créateur / presse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2D5BFF"/>
                </a:solidFill>
                <a:latin typeface="Arial"/>
              </a:rPr>
              <a:t>•  </a:t>
            </a:r>
            <a:r>
              <a:rPr sz="1100">
                <a:solidFill>
                  <a:srgbClr val="1E2A44"/>
                </a:solidFill>
                <a:latin typeface="Arial"/>
              </a:rPr>
              <a:t>Leaderboard peu spectaculaire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 lIns="0" rIns="45720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D5BFF"/>
                </a:solidFill>
                <a:latin typeface="Arial"/>
              </a:rPr>
              <a:t>B6.A1.C1  ·  CIBLE INFLUENCEUR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