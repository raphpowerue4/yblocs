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Constituer une équipe pluridisciplinaire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Besoins en compétences internes &amp; externes + prise en compte du handicap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3727" y="1371600"/>
          <a:ext cx="1106424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6217920"/>
              </a:tblGrid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Profil — interne / externe</a:t>
                      </a:r>
                    </a:p>
                  </a:txBody>
                  <a:tcPr anchor="ctr" marL="137160" marR="91440" marT="27432" marB="27432">
                    <a:solidFill>
                      <a:srgbClr val="3AA9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Mission sur le projet</a:t>
                      </a:r>
                    </a:p>
                  </a:txBody>
                  <a:tcPr anchor="ctr" marL="137160" marR="91440" marT="27432" marB="27432">
                    <a:solidFill>
                      <a:srgbClr val="2E8B7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Game Designer · Raphaël — interne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Conception gameplay, level design, UX, coordination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Game Artists — interne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Assets 3D modulaires, direction artistique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Développeur / intégration — interne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Blueprints Unreal, systèmes (leaderboard Firebase)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Sound designer — interne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FMOD, feedback audio &amp; game feel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Experts / intervenants — externe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Arbitrage direction artistique, conseil ponctuel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5495544"/>
            <a:ext cx="10945368" cy="66751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PRISE EN COMPTE DU HANDICAP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Aménagement du poste : organisation flexible (remote / async via Discord &amp; Miro), vérification de l'accessibilité des outils, adaptation du matériel selon les besoins.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B5.A1.C1  ·  COMPOSITION DE L'ÉQUIPE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Plan de développement des compétences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Lacunes repérées par la veille → plan de développement individuel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3727" y="1371600"/>
          <a:ext cx="110642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Compétence à acquérir / renforcer</a:t>
                      </a:r>
                    </a:p>
                  </a:txBody>
                  <a:tcPr anchor="ctr" marL="137160" marR="91440" marT="27432" marB="27432">
                    <a:solidFill>
                      <a:srgbClr val="3AA9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Formation proposée</a:t>
                      </a:r>
                    </a:p>
                  </a:txBody>
                  <a:tcPr anchor="ctr" marL="137160" marR="91440" marT="27432" marB="27432">
                    <a:solidFill>
                      <a:srgbClr val="2E8B7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Profiling audio FMOD avancé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Tutoriels ciblés + atelier interne sur le profiler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Optimisation Unreal (baking, instanciation)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Atelier dédié : Lumen vs baked, draw calls, LOD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Accessibilité (WCAG, daltonisme)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Game Accessibility Guidelines + check-list interne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Backend leaderboard (Firebase)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Documentation Firebase + mini-PoC encadré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212080"/>
            <a:ext cx="11274552" cy="86868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5266944"/>
            <a:ext cx="10945368" cy="75895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AA99A"/>
                </a:solidFill>
                <a:latin typeface="Arial"/>
              </a:rPr>
              <a:t>DÉMARCHE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Évaluation des compétences actuelles de l'équipe (maîtrise Unreal/3D acquise), puis identification des compétences à acquérir repérées via la veille technologique, afin de gagner en productivité.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B5.A2.C1  ·  PLAN DE MONTÉE EN COMPÉTENCES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Conseiller l'équipe grâce à l'expertise métier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Retour d'expérience : préconisations Game Design suivies par l'équipe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71" y="1463040"/>
            <a:ext cx="5500116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4875" y="1609344"/>
            <a:ext cx="5207507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Préconisations émises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739" y="2304288"/>
            <a:ext cx="5116068" cy="3063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Blockout de référence pour cadrer level design &amp; DA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Assets modulaires / instanciés (perf + cohérence)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Feedback audio FMOD sur les actions clés (game feel)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Baking des lumières statiques pour la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463040"/>
            <a:ext cx="5500116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9311" y="1609344"/>
            <a:ext cx="5207507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Résultats obtenus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4175" y="2304288"/>
            <a:ext cx="5116068" cy="3063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Cohérence visuelle rétablie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Gains de performance mesurés (cf. Bloc 4)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Communication facilitée avec l'équipe art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Préconisations mises à profit dans la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B5.A2.C2  ·  CONSEIL &amp; EXPERTISE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Styles de management &amp; résolution de conflit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43887" y="1325880"/>
            <a:ext cx="2651760" cy="566928"/>
          </a:xfrm>
          <a:prstGeom prst="roundRect">
            <a:avLst>
              <a:gd name="adj" fmla="val 3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Participatif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69967" y="1325880"/>
            <a:ext cx="2651760" cy="566928"/>
          </a:xfrm>
          <a:prstGeom prst="roundRect">
            <a:avLst>
              <a:gd name="adj" fmla="val 3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Délégatif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96047" y="1325880"/>
            <a:ext cx="2651760" cy="566928"/>
          </a:xfrm>
          <a:prstGeom prst="roundRect">
            <a:avLst>
              <a:gd name="adj" fmla="val 3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Directif (ponctuel)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5321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" y="2295144"/>
            <a:ext cx="5239512" cy="493776"/>
          </a:xfrm>
          <a:prstGeom prst="roundRect">
            <a:avLst>
              <a:gd name="adj" fmla="val 20000"/>
            </a:avLst>
          </a:prstGeom>
          <a:solidFill>
            <a:srgbClr val="BF7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Conflit rencontré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834640"/>
            <a:ext cx="51206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Contexte : divergence de DA entre le GD et l'équipe art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Tension sur la cohérence visuelle et les délais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Risque : démotivation et retouches en série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2148840"/>
            <a:ext cx="55321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45936" y="2295144"/>
            <a:ext cx="5239512" cy="493776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Résolution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834640"/>
            <a:ext cx="51206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Écoute active des préoccupations de l'équipe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Réunion dédiée + arbitrage externe neutre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Blockout de référence → consensus et alignement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17720"/>
            <a:ext cx="11274552" cy="96012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672583"/>
            <a:ext cx="10945368" cy="8503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ANALYSE CRITIQUE DE MA POSTURE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3A"/>
                </a:solidFill>
                <a:latin typeface="Arial"/>
              </a:rPr>
              <a:t>Point fort : écoute, leadership et recours à un arbitrage neutre. À améliorer : cadrer la DA plus tôt via un brief visuel formalisé pour prévenir le conflit plutôt que le résoudre.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B5.A3.C1  ·  MANAGEMENT &amp; CONFLIT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Plan de communication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Communication interne — équipe &amp; parties prenantes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71" y="1417320"/>
            <a:ext cx="357530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4875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739" y="2258568"/>
            <a:ext cx="3191256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Assurer la circulation de l'information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Aligner l'équipe sur les choix techniques/artistiques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Recueillir les feedbacks d'avancement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8195" y="1417320"/>
            <a:ext cx="357530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54499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Parties prenantes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9363" y="2258568"/>
            <a:ext cx="3191256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GD, équipe art, dev, sound design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Intervenants externes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Encadrement / jury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7819" y="1417320"/>
            <a:ext cx="357530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4123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Canaux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8987" y="2258568"/>
            <a:ext cx="3191256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Discord : échanges quotidiens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Miro : suivi visuel &amp; Gantt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Mail : officiel / externe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Visio : réunions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00600"/>
            <a:ext cx="11274552" cy="96012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855464"/>
            <a:ext cx="10945368" cy="8503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ORGANISATION DES RÉUNIONS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Stand-up hebdomadaire (15 min) · réunion de fin de jalon / milestone (bilan &amp; cadrage) · réunions individuelles selon besoin. Modes de communication adaptables aux personnes en situation de handicap.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B5.A3.C2  ·  PLAN DE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Exemple de compte rendu de réunion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Réunion d'arbitrage — direction artistique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43032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822960"/>
          </a:xfrm>
          <a:prstGeom prst="rect">
            <a:avLst/>
          </a:prstGeom>
          <a:noFill/>
        </p:spPr>
        <p:txBody>
          <a:bodyPr wrap="square" lIns="109728" rIns="109728" t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A3A"/>
                </a:solidFill>
                <a:latin typeface="Arial"/>
              </a:rPr>
              <a:t>Nature : réunion d'arbitrage (résolution de conflit) — ponctuelle, déclenchée par l'aléa DA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Durée : ~45 min   ·   Participants : Game Designer (Raphaël), équipe Game Art, intervenant externe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8B7F"/>
                </a:solidFill>
                <a:latin typeface="Arial"/>
              </a:rPr>
              <a:t>Ordre du jour &amp; objectifs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10058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Exposer la divergence de direction artistique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Présenter le blockout de référence et l'identité « arcade / minimaliste »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Décider de la direction visuelle commune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8B57"/>
                </a:solidFill>
                <a:latin typeface="Arial"/>
              </a:rPr>
              <a:t>Décisions prises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526280"/>
            <a:ext cx="10058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8B57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Adoption du style arcade/minimaliste cadré par le blockout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8B57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Assets concernés à retravailler par l'équipe art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8B57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Prochain point de contrôle fixé au jalon suivant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B5.A3.C3  ·  COMPTE RENDU DE RÉUNION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Stratégie de communication promotionnelle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Objectifs · positionnement · message clé  (cibles : voir personas)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71" y="1417320"/>
            <a:ext cx="3575304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4875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Objectifs de 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739" y="2258568"/>
            <a:ext cx="3191256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Notoriété &amp; visibilité du jeu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Wishlists Steam avant lancement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Communauté engagée (Discord)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Viralité des runs (clips)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8195" y="1417320"/>
            <a:ext cx="3575304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54499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Positionnement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9363" y="2258568"/>
            <a:ext cx="3191256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1">
                <a:solidFill>
                  <a:srgbClr val="1B2A3A"/>
                </a:solidFill>
                <a:latin typeface="Arial"/>
              </a:rPr>
              <a:t>Proposition de valeur : FPS de mouvement nerveux, accessible, éco-conçu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Promesse : « Simple à jouer, dur à maîtriser » (crédible)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Raison de croire : game feel, die &amp; retry, leaderboard, modding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Différenciant difficile à copier : niche speedrun + accessibilité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7819" y="1417320"/>
            <a:ext cx="3575304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4123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Message clé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8987" y="2258568"/>
            <a:ext cx="3191256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1">
                <a:solidFill>
                  <a:srgbClr val="1B2A3A"/>
                </a:solidFill>
                <a:latin typeface="Arial"/>
              </a:rPr>
              <a:t>Accroche : « Bats le chrono. Maîtrise le mouvement. »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Bénéfice : progression visible, satisfaction du run parfait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Ton : arcade, énergique, communautaire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Cohérent sur tous les supports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B6.A1.C1  ·  STRATÉGIE (1/2)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Plan de communication — stratégie POEM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Paid · Owned · Earned : médias payés, possédés, gagnés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71" y="1417320"/>
            <a:ext cx="3575304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4875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2E8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Owned — médias possédés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739" y="2258568"/>
            <a:ext cx="3191256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Page Steam (capsule, wishlist)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Serveur Discord communautaire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Devlogs réguliers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Comptes TikTok / YouTube / X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Newsletter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8195" y="1417320"/>
            <a:ext cx="3575304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54499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2E8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Paid — médias payés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9363" y="2258568"/>
            <a:ext cx="3191256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Posts sponsorisés sur les réseaux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Boost / partenariats influenceurs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Mise en avant Steam (Next Fest)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Campagnes ciblées court format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7819" y="1417320"/>
            <a:ext cx="3575304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4123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2E8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Earned — médias gagnés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8987" y="2258568"/>
            <a:ext cx="3191256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Clips relayés par streamers/créateurs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Retombées presse spécialisée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Citations &amp; bouche-à-oreille communauté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UGC : niveaux moddés partagés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B6.A1.C1  ·  STRATÉGIE POEM (2/2)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Plan d'actions promotionnelles &amp; événements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Online / offline · planifié sur la période (pré-lancement → lancement → post)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71" y="1463040"/>
            <a:ext cx="55001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4875" y="1609344"/>
            <a:ext cx="5207507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Événements digitaux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739" y="2304288"/>
            <a:ext cx="5116068" cy="21488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Steam Next Fest + démo jouable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Challenges leaderboard communautaires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Lives de speedrun, devlogs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Campagne TikTok / YouTube Shorts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463040"/>
            <a:ext cx="55001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9311" y="1609344"/>
            <a:ext cx="5207507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Événements physiques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4175" y="2304288"/>
            <a:ext cx="5116068" cy="21488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Salons indépendants &amp; festivals locaux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Rencontres communautaires / meetups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Démos sur stand (PC + Steam Deck)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11274552" cy="96012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809744"/>
            <a:ext cx="10945368" cy="8503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PLATEFORMES &amp; PLANNING DE CAMPAGNE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Plateformes ciblées selon le public : Steam, TikTok, YouTube, Twitch, Discord, Reddit (r/speedrun, r/Trackmania). Plan opérationnel synthétique &amp; évolutif, activé par phase : pré-lancement → lancement → post-lancement.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B6.A1.C3  ·  ACTIONS &amp; ÉVÉNEMENTS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Évaluation de l'impact écologique — bilan carbone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Outil : JYROS (conforme aux préconisations CNC éco-conception 2023)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71" y="1463040"/>
            <a:ext cx="5500116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4875" y="1609344"/>
            <a:ext cx="5207507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Sources d'émission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739" y="2304288"/>
            <a:ext cx="5116068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Énergie des machines de développement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Serveurs (leaderboard)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Distribution &amp; téléchargements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Durée d'utilisation côté joueurs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463040"/>
            <a:ext cx="5500116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9311" y="1609344"/>
            <a:ext cx="5207507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Réduction de l'empreinte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4175" y="2304288"/>
            <a:ext cx="5116068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Assets modulaires &amp; instanciés, baking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Compression audio (Vorbis / FMOD)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Niveaux &lt; 20 Mo, streaming progressif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Serveur minimal (leaderboard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11274552" cy="86868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901183"/>
            <a:ext cx="10945368" cy="75895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57"/>
                </a:solidFill>
                <a:latin typeface="Arial"/>
              </a:rPr>
              <a:t>CHOIX DE L'OUTIL — JYROS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JYROS retenu car adapté à la mesure d'empreinte carbone des projets numériques / jeux vidéo ; il fait apparaître les sources d'émission et l'empreinte de la production.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B6.A2.C1  ·  BILAN CARBONE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Mesurer la valeur générée — tableau de bord KPI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3727" y="1371600"/>
          <a:ext cx="1106424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Indicateur (KPI)</a:t>
                      </a:r>
                    </a:p>
                  </a:txBody>
                  <a:tcPr anchor="ctr" marL="137160" marR="91440" marT="27432" marB="27432">
                    <a:solidFill>
                      <a:srgbClr val="3AA9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Justification au regard des objectifs</a:t>
                      </a:r>
                    </a:p>
                  </a:txBody>
                  <a:tcPr anchor="ctr" marL="137160" marR="91440" marT="27432" marB="27432">
                    <a:solidFill>
                      <a:srgbClr val="2E8B7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Taux de rétention S1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Cœur du modèle leaderboard / rejouabilité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Runs par joueur &amp; temps de session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Mesure l'engagement et le « die &amp; retry »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Taux de complétion des niveaux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Valide la lisibilité et la difficulté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Wishlists / téléchargements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Mesure l'attractivité commerciale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Engagement communauté (clips, niveaux moddés)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Mesure la viralité et la durée de vie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349240"/>
            <a:ext cx="11274552" cy="841248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5404103"/>
            <a:ext cx="10945368" cy="73152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MÉTHODOLOGIE &amp; ÉCHÉANCES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Données initiales collectées en playtests (Google Forms + analytics in-game), puis suivi des indicateurs après diffusion. Mesures à J+7, J+30 et J+90 — fenêtres où rétention et engagement deviennent significatifs.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B6.A2.C2  ·  MESURE DE LA VALEUR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Recommandation d'amélioration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Validée par A/B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71" y="1417320"/>
            <a:ext cx="357530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4875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Données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739" y="2258568"/>
            <a:ext cx="3191256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Playtests (24 testeurs)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75 % comprennent le niveau immédiatement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Frustration sur la lisibilité de la trajectoire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8195" y="1417320"/>
            <a:ext cx="357530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54499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Recommandation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9363" y="2258568"/>
            <a:ext cx="3191256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Renforcer repères visuels / code couleur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Ajouter un « ghost » de la meilleure run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Réutilise le système de replay / leaderboard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7819" y="1417320"/>
            <a:ext cx="357530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4123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Gain · coût · délai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8987" y="2258568"/>
            <a:ext cx="3191256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1">
                <a:solidFill>
                  <a:srgbClr val="1B2A3A"/>
                </a:solidFill>
                <a:latin typeface="Arial"/>
              </a:rPr>
              <a:t>Gain : lisibilité &amp; rétention accrues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Coût : faible (briques existantes)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Délai : court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Validation : A/B test (avec / sans repères)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0060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855464"/>
            <a:ext cx="10945368" cy="8046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57"/>
                </a:solidFill>
                <a:latin typeface="Arial"/>
              </a:rPr>
              <a:t>INTÉGRATION &amp; DÉMARCHE CONTINUE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Code couleur et repères visuels déjà intégrés suite aux playtests (cf. corrections B3/B4). Le « ghost run » est planifié pour la prochaine itération et sera mesuré par A/B testing — démarche d'amélioration continue.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B6.A3.C1  ·  RECOMMANDATION D'AMÉLIORATION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