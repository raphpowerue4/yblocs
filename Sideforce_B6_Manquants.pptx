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Roadmap de campagne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A97A5"/>
                </a:solidFill>
                <a:latin typeface="Calibri"/>
              </a:rPr>
              <a:t>Sideforce · visualisation de la campagne sur la durée — phases &amp;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00E5C7"/>
                </a:solidFill>
                <a:latin typeface="Calibri"/>
              </a:rPr>
              <a:t>B6.A1.C3</a:t>
            </a:r>
          </a:p>
        </p:txBody>
      </p:sp>
      <p:pic>
        <p:nvPicPr>
          <p:cNvPr id="5" name="Picture 4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79" y="1325880"/>
            <a:ext cx="10477281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6053328"/>
            <a:ext cx="256032" cy="118872"/>
          </a:xfrm>
          <a:prstGeom prst="roundRect">
            <a:avLst/>
          </a:prstGeom>
          <a:solidFill>
            <a:srgbClr val="00E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9893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7A5"/>
                </a:solidFill>
                <a:latin typeface="Calibri"/>
              </a:rPr>
              <a:t>action en continu</a:t>
            </a:r>
          </a:p>
        </p:txBody>
      </p:sp>
      <p:sp>
        <p:nvSpPr>
          <p:cNvPr id="8" name="Oval 7"/>
          <p:cNvSpPr/>
          <p:nvPr/>
        </p:nvSpPr>
        <p:spPr>
          <a:xfrm>
            <a:off x="3108960" y="6035040"/>
            <a:ext cx="146304" cy="146304"/>
          </a:xfrm>
          <a:prstGeom prst="ellipse">
            <a:avLst/>
          </a:prstGeom>
          <a:solidFill>
            <a:srgbClr val="3B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59893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7A5"/>
                </a:solidFill>
                <a:latin typeface="Calibri"/>
              </a:rPr>
              <a:t>action ponctuelle</a:t>
            </a:r>
          </a:p>
        </p:txBody>
      </p:sp>
      <p:sp>
        <p:nvSpPr>
          <p:cNvPr id="10" name="5-Point Star 9"/>
          <p:cNvSpPr/>
          <p:nvPr/>
        </p:nvSpPr>
        <p:spPr>
          <a:xfrm>
            <a:off x="5486400" y="5998464"/>
            <a:ext cx="201168" cy="201168"/>
          </a:xfrm>
          <a:prstGeom prst="star5">
            <a:avLst/>
          </a:prstGeom>
          <a:solidFill>
            <a:srgbClr val="FF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5989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7A5"/>
                </a:solidFill>
                <a:latin typeface="Calibri"/>
              </a:rPr>
              <a:t>pic de lancement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7A5"/>
                </a:solidFill>
                <a:latin typeface="Calibri"/>
              </a:rPr>
              <a:t>Continu : page Steam, contenu RS, Discord  ·  Ponctuel : teaser, démo Next Fest, event, promos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Tableau de bord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97A5"/>
                </a:solidFill>
                <a:latin typeface="Calibri"/>
              </a:rPr>
              <a:t>Les KPI suivent le parcours : voir → cliquer → wishlister → acheter → rejouer  ·  valeurs cibles (projection)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00E5C7"/>
                </a:solidFill>
                <a:latin typeface="Calibri"/>
              </a:rPr>
              <a:t>B6.A2.C2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157984" cy="1051560"/>
          </a:xfrm>
          <a:prstGeom prst="round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7276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0E5C7"/>
                </a:solidFill>
                <a:latin typeface="Calibri"/>
              </a:rPr>
              <a:t>15 000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12140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97A5"/>
                </a:solidFill>
                <a:latin typeface="Calibri"/>
              </a:rPr>
              <a:t>Wishlists Steam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25496" y="1463040"/>
            <a:ext cx="2157984" cy="1051560"/>
          </a:xfrm>
          <a:prstGeom prst="round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0088" y="157276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BA7FF"/>
                </a:solidFill>
                <a:latin typeface="Calibri"/>
              </a:rPr>
              <a:t>40 000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212140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97A5"/>
                </a:solidFill>
                <a:latin typeface="Calibri"/>
              </a:rPr>
              <a:t>Téléchargements J+30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8072" y="1463040"/>
            <a:ext cx="2157984" cy="1051560"/>
          </a:xfrm>
          <a:prstGeom prst="round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2664" y="157276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5A3C"/>
                </a:solidFill>
                <a:latin typeface="Calibri"/>
              </a:rPr>
              <a:t>450 k€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2664" y="212140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97A5"/>
                </a:solidFill>
                <a:latin typeface="Calibri"/>
              </a:rPr>
              <a:t>CA à J+30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0648" y="1463040"/>
            <a:ext cx="2157984" cy="1051560"/>
          </a:xfrm>
          <a:prstGeom prst="round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57276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0E5C7"/>
                </a:solidFill>
                <a:latin typeface="Calibri"/>
              </a:rPr>
              <a:t>x4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12140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97A5"/>
                </a:solidFill>
                <a:latin typeface="Calibri"/>
              </a:rPr>
              <a:t>ROI campagne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93224" y="1463040"/>
            <a:ext cx="2157984" cy="1051560"/>
          </a:xfrm>
          <a:prstGeom prst="round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57816" y="157276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3BA7FF"/>
                </a:solidFill>
                <a:latin typeface="Calibri"/>
              </a:rPr>
              <a:t>12 000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6" y="212140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A97A5"/>
                </a:solidFill>
                <a:latin typeface="Calibri"/>
              </a:rPr>
              <a:t>Membres Discord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788920"/>
            <a:ext cx="3703320" cy="2697480"/>
          </a:xfrm>
          <a:prstGeom prst="round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kp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047865"/>
            <a:ext cx="3483863" cy="217958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389120" y="2788920"/>
            <a:ext cx="3703320" cy="2697480"/>
          </a:xfrm>
          <a:prstGeom prst="round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kpi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3047865"/>
            <a:ext cx="3483863" cy="217958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275320" y="2788920"/>
            <a:ext cx="3703320" cy="2697480"/>
          </a:xfrm>
          <a:prstGeom prst="round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kp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3047865"/>
            <a:ext cx="3483863" cy="217958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2920" y="565099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7A5"/>
                </a:solidFill>
                <a:latin typeface="Calibri"/>
              </a:rPr>
              <a:t>Lecture gauche → droite : du général (notoriété) au particulier (conversion).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05332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8EDF2"/>
                </a:solidFill>
                <a:latin typeface="Calibri"/>
              </a:rPr>
              <a:t>5 chiffres clés + 3 graphiques</a:t>
            </a:r>
            <a:r>
              <a:rPr sz="1250" b="0">
                <a:solidFill>
                  <a:srgbClr val="8A97A5"/>
                </a:solidFill>
                <a:latin typeface="Calibri"/>
              </a:rPr>
              <a:t>  —  max 10 KPI, cohérent avec le plan de communication daté (cours p.26 &amp; p.30).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Mesure &amp; optimisation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A97A5"/>
                </a:solidFill>
                <a:latin typeface="Calibri"/>
              </a:rPr>
              <a:t>Outils de suivi, fréquence d'optimisation et recommandations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00E5C7"/>
                </a:solidFill>
                <a:latin typeface="Calibri"/>
              </a:rPr>
              <a:t>B6.A2.C2 / A3.C1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611880" cy="4480560"/>
          </a:xfrm>
          <a:prstGeom prst="round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828800"/>
            <a:ext cx="3099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E5C7"/>
                </a:solidFill>
                <a:latin typeface="Calibri"/>
              </a:rPr>
              <a:t>Outils de mesure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377440"/>
            <a:ext cx="31546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>
                <a:solidFill>
                  <a:srgbClr val="00E5C7"/>
                </a:solidFill>
                <a:latin typeface="Calibri"/>
              </a:rPr>
              <a:t>•  </a:t>
            </a:r>
            <a:r>
              <a:rPr sz="1300" b="0">
                <a:solidFill>
                  <a:srgbClr val="E8EDF2"/>
                </a:solidFill>
                <a:latin typeface="Calibri"/>
              </a:rPr>
              <a:t>Steam / Steamworks — wishlists, visites, ventes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E5C7"/>
                </a:solidFill>
                <a:latin typeface="Calibri"/>
              </a:rPr>
              <a:t>•  </a:t>
            </a:r>
            <a:r>
              <a:rPr sz="1300" b="0">
                <a:solidFill>
                  <a:srgbClr val="E8EDF2"/>
                </a:solidFill>
                <a:latin typeface="Calibri"/>
              </a:rPr>
              <a:t>Google Analytics — trafic du site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E5C7"/>
                </a:solidFill>
                <a:latin typeface="Calibri"/>
              </a:rPr>
              <a:t>•  </a:t>
            </a:r>
            <a:r>
              <a:rPr sz="1300" b="0">
                <a:solidFill>
                  <a:srgbClr val="E8EDF2"/>
                </a:solidFill>
                <a:latin typeface="Calibri"/>
              </a:rPr>
              <a:t>Instagram &amp; TikTok Insights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E5C7"/>
                </a:solidFill>
                <a:latin typeface="Calibri"/>
              </a:rPr>
              <a:t>•  </a:t>
            </a:r>
            <a:r>
              <a:rPr sz="1300" b="0">
                <a:solidFill>
                  <a:srgbClr val="E8EDF2"/>
                </a:solidFill>
                <a:latin typeface="Calibri"/>
              </a:rPr>
              <a:t>YouTube Studio · Twitch Analytics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E5C7"/>
                </a:solidFill>
                <a:latin typeface="Calibri"/>
              </a:rPr>
              <a:t>•  </a:t>
            </a:r>
            <a:r>
              <a:rPr sz="1300" b="0">
                <a:solidFill>
                  <a:srgbClr val="E8EDF2"/>
                </a:solidFill>
                <a:latin typeface="Calibri"/>
              </a:rPr>
              <a:t>Analytics in-game — sessions, runs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E5C7"/>
                </a:solidFill>
                <a:latin typeface="Calibri"/>
              </a:rPr>
              <a:t>•  </a:t>
            </a:r>
            <a:r>
              <a:rPr sz="1300" b="0">
                <a:solidFill>
                  <a:srgbClr val="E8EDF2"/>
                </a:solidFill>
                <a:latin typeface="Calibri"/>
              </a:rPr>
              <a:t>Discord Insights — communauté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E5C7"/>
                </a:solidFill>
                <a:latin typeface="Calibri"/>
              </a:rPr>
              <a:t>•  </a:t>
            </a:r>
            <a:r>
              <a:rPr sz="1300" b="0">
                <a:solidFill>
                  <a:srgbClr val="E8EDF2"/>
                </a:solidFill>
                <a:latin typeface="Calibri"/>
              </a:rPr>
              <a:t>Suivi SEA / social ads — ROI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1600200"/>
            <a:ext cx="3611880" cy="4480560"/>
          </a:xfrm>
          <a:prstGeom prst="round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28800"/>
            <a:ext cx="3099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5A3C"/>
                </a:solidFill>
                <a:latin typeface="Calibri"/>
              </a:rPr>
              <a:t>Fréquence d'optimisation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46888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5A3C"/>
                </a:solidFill>
                <a:latin typeface="Calibri"/>
              </a:rPr>
              <a:t>Quotidien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779776"/>
            <a:ext cx="3099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8EDF2"/>
                </a:solidFill>
                <a:latin typeface="Calibri"/>
              </a:rPr>
              <a:t>delivery des campagnes payées, CA, visites Steam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61188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5A3C"/>
                </a:solidFill>
                <a:latin typeface="Calibri"/>
              </a:rPr>
              <a:t>Hebdomadaire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922776"/>
            <a:ext cx="3099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8EDF2"/>
                </a:solidFill>
                <a:latin typeface="Calibri"/>
              </a:rPr>
              <a:t>contenus RS → décisions &amp; test &amp; 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475488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5A3C"/>
                </a:solidFill>
                <a:latin typeface="Calibri"/>
              </a:rPr>
              <a:t>Mensuel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5065776"/>
            <a:ext cx="3099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8EDF2"/>
                </a:solidFill>
                <a:latin typeface="Calibri"/>
              </a:rPr>
              <a:t>vision globale, rentabilité &amp; tendance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1600200"/>
            <a:ext cx="3611880" cy="4480560"/>
          </a:xfrm>
          <a:prstGeom prst="round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828800"/>
            <a:ext cx="3099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3BA7FF"/>
                </a:solidFill>
                <a:latin typeface="Calibri"/>
              </a:rPr>
              <a:t>3 recommandations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46888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A7FF"/>
                </a:solidFill>
                <a:latin typeface="Calibri"/>
              </a:rPr>
              <a:t>1.  </a:t>
            </a:r>
            <a:r>
              <a:rPr sz="1400" b="1">
                <a:solidFill>
                  <a:srgbClr val="3BA7FF"/>
                </a:solidFill>
                <a:latin typeface="Calibri"/>
              </a:rPr>
              <a:t>A/B testing créas 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2779776"/>
            <a:ext cx="3099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8EDF2"/>
                </a:solidFill>
                <a:latin typeface="Calibri"/>
              </a:rPr>
              <a:t>tester formats &amp; call-to-action, garder le plus performant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361188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A7FF"/>
                </a:solidFill>
                <a:latin typeface="Calibri"/>
              </a:rPr>
              <a:t>2.  </a:t>
            </a:r>
            <a:r>
              <a:rPr sz="1400" b="1">
                <a:solidFill>
                  <a:srgbClr val="3BA7FF"/>
                </a:solidFill>
                <a:latin typeface="Calibri"/>
              </a:rPr>
              <a:t>Page Steam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3922776"/>
            <a:ext cx="3099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8EDF2"/>
                </a:solidFill>
                <a:latin typeface="Calibri"/>
              </a:rPr>
              <a:t>revoir description, visuels/vidéos, répondre aux commentaires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3" y="4754880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A7FF"/>
                </a:solidFill>
                <a:latin typeface="Calibri"/>
              </a:rPr>
              <a:t>3.  </a:t>
            </a:r>
            <a:r>
              <a:rPr sz="1400" b="1">
                <a:solidFill>
                  <a:srgbClr val="3BA7FF"/>
                </a:solidFill>
                <a:latin typeface="Calibri"/>
              </a:rPr>
              <a:t>Réallocation 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5065776"/>
            <a:ext cx="3099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E8EDF2"/>
                </a:solidFill>
                <a:latin typeface="Calibri"/>
              </a:rPr>
              <a:t>déplacer le budget pub vers le réseau au meilleur ROI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97A5"/>
                </a:solidFill>
                <a:latin typeface="Calibri"/>
              </a:rPr>
              <a:t>La fréquence varie selon le type d'optimisation et de reporting (cours p.44).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